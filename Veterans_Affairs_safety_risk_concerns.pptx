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Roboto Medium"/>
      <p:regular r:id="rId39"/>
      <p:bold r:id="rId40"/>
      <p:italic r:id="rId41"/>
      <p:boldItalic r:id="rId42"/>
    </p:embeddedFont>
    <p:embeddedFont>
      <p:font typeface="Roboto"/>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edium-bold.fntdata"/><Relationship Id="rId20" Type="http://schemas.openxmlformats.org/officeDocument/2006/relationships/slide" Target="slides/slide15.xml"/><Relationship Id="rId42" Type="http://schemas.openxmlformats.org/officeDocument/2006/relationships/font" Target="fonts/RobotoMedium-boldItalic.fntdata"/><Relationship Id="rId41" Type="http://schemas.openxmlformats.org/officeDocument/2006/relationships/font" Target="fonts/RobotoMedium-italic.fntdata"/><Relationship Id="rId22" Type="http://schemas.openxmlformats.org/officeDocument/2006/relationships/slide" Target="slides/slide17.xml"/><Relationship Id="rId44" Type="http://schemas.openxmlformats.org/officeDocument/2006/relationships/font" Target="fonts/Roboto-bold.fntdata"/><Relationship Id="rId21" Type="http://schemas.openxmlformats.org/officeDocument/2006/relationships/slide" Target="slides/slide16.xml"/><Relationship Id="rId43" Type="http://schemas.openxmlformats.org/officeDocument/2006/relationships/font" Target="fonts/Roboto-regular.fntdata"/><Relationship Id="rId24" Type="http://schemas.openxmlformats.org/officeDocument/2006/relationships/slide" Target="slides/slide19.xml"/><Relationship Id="rId46" Type="http://schemas.openxmlformats.org/officeDocument/2006/relationships/font" Target="fonts/Roboto-boldItalic.fntdata"/><Relationship Id="rId23" Type="http://schemas.openxmlformats.org/officeDocument/2006/relationships/slide" Target="slides/slide18.xml"/><Relationship Id="rId45"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Medium-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71ed8a8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d71ed8a8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d72a7822e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d72a7822e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71a6aa9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d71a6aa9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57b4a8f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57b4a8f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57b4a8f2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57b4a8f2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highlight>
                <a:schemeClr val="dk1"/>
              </a:high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724318a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724318a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72a7822e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72a7822e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724318a2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d724318a2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72a7822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72a7822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5c6304a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5c6304a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d58166bf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d58166bf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PTSD- quantitatively skwed the data. Preventing if not masking the effects of war on the human body, with those whom carried drama from earlier periods in their life path.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9754d1e4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9754d1e4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9784bcf6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9784bcf6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973dc3d72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973dc3d72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97567bea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97567bea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9754d1e45f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9754d1e45f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d75b0a1f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d75b0a1f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9754d1e45f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9754d1e45f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9754d1e45f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9754d1e45f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9784bcf6f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9784bcf6f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d6fb4dd70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d6fb4dd70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975606b76e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975606b76e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d6f742e2e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d6f742e2e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d71a6aa92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d71a6aa92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d6f742e2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d6f742e2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6f742e2e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d6f742e2e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d6f742e2e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d6f742e2e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6f742e2e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d6f742e2e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d6f742e2e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d6f742e2e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9786e72e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9786e72e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d741f01e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d741f01e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d738e2896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d738e2896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sz="1100">
                <a:solidFill>
                  <a:schemeClr val="dk1"/>
                </a:solidFill>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jpg"/><Relationship Id="rId4" Type="http://schemas.openxmlformats.org/officeDocument/2006/relationships/image" Target="../media/image2.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2.png"/><Relationship Id="rId6"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youtu.be/2-aDz23CId8?si=JB6MuvuR14YIIygG" TargetMode="External"/><Relationship Id="rId4" Type="http://schemas.openxmlformats.org/officeDocument/2006/relationships/hyperlink" Target="https://youtu.be/eJk4JNM7vas?si=1ZFmMbWtl37gHhGI" TargetMode="External"/><Relationship Id="rId5" Type="http://schemas.openxmlformats.org/officeDocument/2006/relationships/hyperlink" Target="https://youtu.be/yqpPogpji84?si=VVqOUDksSOz49eGV" TargetMode="External"/><Relationship Id="rId6" Type="http://schemas.openxmlformats.org/officeDocument/2006/relationships/hyperlink" Target="https://youtu.be/MreNB4cH3Rk?si=kCobL646b04ZANSx" TargetMode="External"/><Relationship Id="rId7" Type="http://schemas.openxmlformats.org/officeDocument/2006/relationships/image" Target="../media/image7.png"/><Relationship Id="rId8"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7.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mailto:Zfieryeye@technolust.org" TargetMode="External"/><Relationship Id="rId4" Type="http://schemas.openxmlformats.org/officeDocument/2006/relationships/hyperlink" Target="http://technolust.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Analysis of the Veterans Affairs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lang="en" sz="2300"/>
              <a:t>Through DCHV as a Sample set</a:t>
            </a:r>
            <a:endParaRPr sz="2300"/>
          </a:p>
        </p:txBody>
      </p:sp>
      <p:pic>
        <p:nvPicPr>
          <p:cNvPr id="56" name="Google Shape;56;p13" title="logo_prime.png"/>
          <p:cNvPicPr preferRelativeResize="0"/>
          <p:nvPr/>
        </p:nvPicPr>
        <p:blipFill>
          <a:blip r:embed="rId3">
            <a:alphaModFix/>
          </a:blip>
          <a:stretch>
            <a:fillRect/>
          </a:stretch>
        </p:blipFill>
        <p:spPr>
          <a:xfrm>
            <a:off x="0" y="4268750"/>
            <a:ext cx="1364649" cy="874750"/>
          </a:xfrm>
          <a:prstGeom prst="rect">
            <a:avLst/>
          </a:prstGeom>
          <a:noFill/>
          <a:ln>
            <a:noFill/>
          </a:ln>
        </p:spPr>
      </p:pic>
      <p:pic>
        <p:nvPicPr>
          <p:cNvPr id="57" name="Google Shape;57;p13" title="52_logo.png"/>
          <p:cNvPicPr preferRelativeResize="0"/>
          <p:nvPr/>
        </p:nvPicPr>
        <p:blipFill>
          <a:blip r:embed="rId4">
            <a:alphaModFix/>
          </a:blip>
          <a:stretch>
            <a:fillRect/>
          </a:stretch>
        </p:blipFill>
        <p:spPr>
          <a:xfrm>
            <a:off x="0" y="0"/>
            <a:ext cx="823050" cy="671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DCHV program analysis</a:t>
            </a:r>
            <a:endParaRPr/>
          </a:p>
        </p:txBody>
      </p:sp>
      <p:pic>
        <p:nvPicPr>
          <p:cNvPr id="63" name="Google Shape;63;p14" title="logo_prime.png"/>
          <p:cNvPicPr preferRelativeResize="0"/>
          <p:nvPr/>
        </p:nvPicPr>
        <p:blipFill>
          <a:blip r:embed="rId3">
            <a:alphaModFix/>
          </a:blip>
          <a:stretch>
            <a:fillRect/>
          </a:stretch>
        </p:blipFill>
        <p:spPr>
          <a:xfrm>
            <a:off x="0" y="4268750"/>
            <a:ext cx="1364649" cy="874750"/>
          </a:xfrm>
          <a:prstGeom prst="rect">
            <a:avLst/>
          </a:prstGeom>
          <a:noFill/>
          <a:ln>
            <a:noFill/>
          </a:ln>
        </p:spPr>
      </p:pic>
      <p:pic>
        <p:nvPicPr>
          <p:cNvPr id="64" name="Google Shape;64;p14" title="52_logo.png"/>
          <p:cNvPicPr preferRelativeResize="0"/>
          <p:nvPr/>
        </p:nvPicPr>
        <p:blipFill>
          <a:blip r:embed="rId4">
            <a:alphaModFix/>
          </a:blip>
          <a:stretch>
            <a:fillRect/>
          </a:stretch>
        </p:blipFill>
        <p:spPr>
          <a:xfrm>
            <a:off x="0" y="0"/>
            <a:ext cx="823050" cy="671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1343600" y="769775"/>
            <a:ext cx="5857200" cy="375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Per my obligations; here is my Due Diligence as well as Due care.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000">
                <a:solidFill>
                  <a:schemeClr val="dk2"/>
                </a:solidFill>
              </a:rPr>
              <a:t>This is not an investigation at this point. Purely just an observation.</a:t>
            </a:r>
            <a:endParaRPr sz="1000">
              <a:solidFill>
                <a:schemeClr val="dk2"/>
              </a:solidFill>
            </a:endParaRPr>
          </a:p>
        </p:txBody>
      </p:sp>
      <p:pic>
        <p:nvPicPr>
          <p:cNvPr id="70" name="Google Shape;70;p15" title="52_logo.png"/>
          <p:cNvPicPr preferRelativeResize="0"/>
          <p:nvPr/>
        </p:nvPicPr>
        <p:blipFill>
          <a:blip r:embed="rId3">
            <a:alphaModFix/>
          </a:blip>
          <a:stretch>
            <a:fillRect/>
          </a:stretch>
        </p:blipFill>
        <p:spPr>
          <a:xfrm>
            <a:off x="0" y="0"/>
            <a:ext cx="823050" cy="671800"/>
          </a:xfrm>
          <a:prstGeom prst="rect">
            <a:avLst/>
          </a:prstGeom>
          <a:noFill/>
          <a:ln>
            <a:noFill/>
          </a:ln>
        </p:spPr>
      </p:pic>
      <p:sp>
        <p:nvSpPr>
          <p:cNvPr id="71" name="Google Shape;71;p15"/>
          <p:cNvSpPr txBox="1"/>
          <p:nvPr/>
        </p:nvSpPr>
        <p:spPr>
          <a:xfrm>
            <a:off x="6074025" y="3588400"/>
            <a:ext cx="3000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2"/>
                </a:solidFill>
                <a:highlight>
                  <a:srgbClr val="00FF00"/>
                </a:highlight>
              </a:rPr>
              <a:t>VA employees are systematically targeting specific veterans attacking them using passive aggressive techniques</a:t>
            </a:r>
            <a:endParaRPr b="1" sz="1100">
              <a:solidFill>
                <a:schemeClr val="dk2"/>
              </a:solidFill>
              <a:highlight>
                <a:srgbClr val="00FF00"/>
              </a:highlight>
            </a:endParaRPr>
          </a:p>
        </p:txBody>
      </p:sp>
      <p:pic>
        <p:nvPicPr>
          <p:cNvPr id="72" name="Google Shape;72;p15" title="logo_prime.png"/>
          <p:cNvPicPr preferRelativeResize="0"/>
          <p:nvPr/>
        </p:nvPicPr>
        <p:blipFill>
          <a:blip r:embed="rId4">
            <a:alphaModFix/>
          </a:blip>
          <a:stretch>
            <a:fillRect/>
          </a:stretch>
        </p:blipFill>
        <p:spPr>
          <a:xfrm>
            <a:off x="0" y="4336075"/>
            <a:ext cx="1259625" cy="807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6" title="Screenshot 2026-04-17 15.06.18.png"/>
          <p:cNvPicPr preferRelativeResize="0"/>
          <p:nvPr/>
        </p:nvPicPr>
        <p:blipFill>
          <a:blip r:embed="rId3">
            <a:alphaModFix/>
          </a:blip>
          <a:stretch>
            <a:fillRect/>
          </a:stretch>
        </p:blipFill>
        <p:spPr>
          <a:xfrm>
            <a:off x="1209100" y="153975"/>
            <a:ext cx="7230449" cy="4767175"/>
          </a:xfrm>
          <a:prstGeom prst="rect">
            <a:avLst/>
          </a:prstGeom>
          <a:noFill/>
          <a:ln>
            <a:noFill/>
          </a:ln>
        </p:spPr>
      </p:pic>
      <p:pic>
        <p:nvPicPr>
          <p:cNvPr id="78" name="Google Shape;78;p16" title="logo_prime.png"/>
          <p:cNvPicPr preferRelativeResize="0"/>
          <p:nvPr/>
        </p:nvPicPr>
        <p:blipFill>
          <a:blip r:embed="rId4">
            <a:alphaModFix/>
          </a:blip>
          <a:stretch>
            <a:fillRect/>
          </a:stretch>
        </p:blipFill>
        <p:spPr>
          <a:xfrm>
            <a:off x="0" y="4336075"/>
            <a:ext cx="1259625" cy="807425"/>
          </a:xfrm>
          <a:prstGeom prst="rect">
            <a:avLst/>
          </a:prstGeom>
          <a:noFill/>
          <a:ln>
            <a:noFill/>
          </a:ln>
        </p:spPr>
      </p:pic>
      <p:pic>
        <p:nvPicPr>
          <p:cNvPr id="79" name="Google Shape;79;p16" title="52_logo.png"/>
          <p:cNvPicPr preferRelativeResize="0"/>
          <p:nvPr/>
        </p:nvPicPr>
        <p:blipFill>
          <a:blip r:embed="rId5">
            <a:alphaModFix/>
          </a:blip>
          <a:stretch>
            <a:fillRect/>
          </a:stretch>
        </p:blipFill>
        <p:spPr>
          <a:xfrm>
            <a:off x="8320950" y="4471700"/>
            <a:ext cx="823050" cy="671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State of homeless key factors</a:t>
            </a:r>
            <a:endParaRPr/>
          </a:p>
        </p:txBody>
      </p:sp>
      <p:sp>
        <p:nvSpPr>
          <p:cNvPr id="85" name="Google Shape;85;p17"/>
          <p:cNvSpPr txBox="1"/>
          <p:nvPr/>
        </p:nvSpPr>
        <p:spPr>
          <a:xfrm>
            <a:off x="311700" y="1171375"/>
            <a:ext cx="2144700" cy="3195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Food insecurities</a:t>
            </a:r>
            <a:endParaRPr sz="1200">
              <a:solidFill>
                <a:schemeClr val="dk2"/>
              </a:solidFill>
            </a:endParaRPr>
          </a:p>
          <a:p>
            <a:pPr indent="0" lvl="0" marL="0" rtl="0" algn="l">
              <a:spcBef>
                <a:spcPts val="0"/>
              </a:spcBef>
              <a:spcAft>
                <a:spcPts val="0"/>
              </a:spcAft>
              <a:buNone/>
            </a:pPr>
            <a:r>
              <a:t/>
            </a:r>
            <a:endParaRPr sz="18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Lack of </a:t>
            </a:r>
            <a:r>
              <a:rPr lang="en" sz="1000">
                <a:solidFill>
                  <a:schemeClr val="dk2"/>
                </a:solidFill>
              </a:rPr>
              <a:t>nutritious</a:t>
            </a:r>
            <a:r>
              <a:rPr lang="en" sz="1000">
                <a:solidFill>
                  <a:schemeClr val="dk2"/>
                </a:solidFill>
              </a:rPr>
              <a:t> food</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Lack of access to grocers </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Starvation</a:t>
            </a:r>
            <a:endParaRPr sz="1300">
              <a:solidFill>
                <a:schemeClr val="dk2"/>
              </a:solidFill>
            </a:endParaRPr>
          </a:p>
        </p:txBody>
      </p:sp>
      <p:sp>
        <p:nvSpPr>
          <p:cNvPr id="86" name="Google Shape;86;p17"/>
          <p:cNvSpPr txBox="1"/>
          <p:nvPr/>
        </p:nvSpPr>
        <p:spPr>
          <a:xfrm>
            <a:off x="2702075" y="1171375"/>
            <a:ext cx="2259600" cy="3195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Stable shelter insecurities</a:t>
            </a:r>
            <a:endParaRPr sz="1200">
              <a:solidFill>
                <a:schemeClr val="dk2"/>
              </a:solidFill>
            </a:endParaRPr>
          </a:p>
          <a:p>
            <a:pPr indent="0" lvl="0" marL="0" rtl="0" algn="l">
              <a:spcBef>
                <a:spcPts val="0"/>
              </a:spcBef>
              <a:spcAft>
                <a:spcPts val="0"/>
              </a:spcAft>
              <a:buNone/>
            </a:pPr>
            <a:r>
              <a:t/>
            </a:r>
            <a:endParaRPr sz="18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Lack Secure place to function</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 Communal living</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Adruped relocation</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Secure from external elements</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Exposure to dispirted living regulation</a:t>
            </a:r>
            <a:endParaRPr sz="10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87" name="Google Shape;87;p17"/>
          <p:cNvSpPr txBox="1"/>
          <p:nvPr/>
        </p:nvSpPr>
        <p:spPr>
          <a:xfrm>
            <a:off x="5207338" y="1171375"/>
            <a:ext cx="2099400" cy="3195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Mental </a:t>
            </a:r>
            <a:r>
              <a:rPr lang="en" sz="1200">
                <a:solidFill>
                  <a:schemeClr val="dk2"/>
                </a:solidFill>
              </a:rPr>
              <a:t>insecurities</a:t>
            </a:r>
            <a:endParaRPr sz="1200">
              <a:solidFill>
                <a:schemeClr val="dk2"/>
              </a:solidFill>
            </a:endParaRPr>
          </a:p>
          <a:p>
            <a:pPr indent="0" lvl="0" marL="0" rtl="0" algn="l">
              <a:spcBef>
                <a:spcPts val="0"/>
              </a:spcBef>
              <a:spcAft>
                <a:spcPts val="0"/>
              </a:spcAft>
              <a:buNone/>
            </a:pPr>
            <a:r>
              <a:t/>
            </a:r>
            <a:endParaRPr sz="18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Constant demoralization</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Societal</a:t>
            </a:r>
            <a:r>
              <a:rPr lang="en" sz="1000">
                <a:solidFill>
                  <a:schemeClr val="dk2"/>
                </a:solidFill>
              </a:rPr>
              <a:t> isolation(cast away)</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Mental wellbeing</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Stigma due to folly</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Predatory infrastructure</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Lack of assistance</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Starvation </a:t>
            </a:r>
            <a:endParaRPr sz="1000">
              <a:solidFill>
                <a:schemeClr val="dk2"/>
              </a:solidFill>
            </a:endParaRPr>
          </a:p>
        </p:txBody>
      </p:sp>
      <p:sp>
        <p:nvSpPr>
          <p:cNvPr id="88" name="Google Shape;88;p17"/>
          <p:cNvSpPr txBox="1"/>
          <p:nvPr/>
        </p:nvSpPr>
        <p:spPr>
          <a:xfrm>
            <a:off x="7552425" y="1150675"/>
            <a:ext cx="1425900" cy="3236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highlight>
                  <a:srgbClr val="00FF00"/>
                </a:highlight>
              </a:rPr>
              <a:t>Stabilization</a:t>
            </a:r>
            <a:r>
              <a:rPr lang="en" sz="1200">
                <a:solidFill>
                  <a:schemeClr val="dk2"/>
                </a:solidFill>
                <a:highlight>
                  <a:srgbClr val="00FF00"/>
                </a:highlight>
              </a:rPr>
              <a:t> insecurities</a:t>
            </a:r>
            <a:endParaRPr sz="1200">
              <a:solidFill>
                <a:schemeClr val="dk2"/>
              </a:solidFill>
              <a:highlight>
                <a:srgbClr val="00FF00"/>
              </a:highlight>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Ability to increase monetization</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Fulfilling job placement</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Reliable </a:t>
            </a:r>
            <a:r>
              <a:rPr lang="en" sz="1000">
                <a:solidFill>
                  <a:schemeClr val="dk2"/>
                </a:solidFill>
              </a:rPr>
              <a:t>transportation</a:t>
            </a:r>
            <a:endParaRPr sz="1000">
              <a:solidFill>
                <a:schemeClr val="dk2"/>
              </a:solidFill>
            </a:endParaRPr>
          </a:p>
        </p:txBody>
      </p:sp>
      <p:pic>
        <p:nvPicPr>
          <p:cNvPr id="89" name="Google Shape;89;p17" title="logo_prime.png"/>
          <p:cNvPicPr preferRelativeResize="0"/>
          <p:nvPr/>
        </p:nvPicPr>
        <p:blipFill>
          <a:blip r:embed="rId3">
            <a:alphaModFix/>
          </a:blip>
          <a:stretch>
            <a:fillRect/>
          </a:stretch>
        </p:blipFill>
        <p:spPr>
          <a:xfrm>
            <a:off x="0" y="4387375"/>
            <a:ext cx="1179589" cy="756125"/>
          </a:xfrm>
          <a:prstGeom prst="rect">
            <a:avLst/>
          </a:prstGeom>
          <a:noFill/>
          <a:ln>
            <a:noFill/>
          </a:ln>
        </p:spPr>
      </p:pic>
      <p:pic>
        <p:nvPicPr>
          <p:cNvPr id="90" name="Google Shape;90;p17" title="52_logo.png"/>
          <p:cNvPicPr preferRelativeResize="0"/>
          <p:nvPr/>
        </p:nvPicPr>
        <p:blipFill>
          <a:blip r:embed="rId4">
            <a:alphaModFix/>
          </a:blip>
          <a:stretch>
            <a:fillRect/>
          </a:stretch>
        </p:blipFill>
        <p:spPr>
          <a:xfrm>
            <a:off x="8320950" y="4485696"/>
            <a:ext cx="823050" cy="671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p:nvPr/>
        </p:nvSpPr>
        <p:spPr>
          <a:xfrm>
            <a:off x="133750" y="196525"/>
            <a:ext cx="1168200" cy="489900"/>
          </a:xfrm>
          <a:prstGeom prst="homePlate">
            <a:avLst>
              <a:gd fmla="val 50000" name="adj"/>
            </a:avLst>
          </a:prstGeom>
          <a:solidFill>
            <a:srgbClr val="FFFF00"/>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Effective communication</a:t>
            </a:r>
            <a:endParaRPr sz="1000"/>
          </a:p>
        </p:txBody>
      </p:sp>
      <p:sp>
        <p:nvSpPr>
          <p:cNvPr id="96" name="Google Shape;96;p18"/>
          <p:cNvSpPr/>
          <p:nvPr/>
        </p:nvSpPr>
        <p:spPr>
          <a:xfrm>
            <a:off x="1263075" y="196525"/>
            <a:ext cx="1049700" cy="489900"/>
          </a:xfrm>
          <a:prstGeom prst="homePlate">
            <a:avLst>
              <a:gd fmla="val 50000" name="adj"/>
            </a:avLst>
          </a:prstGeom>
          <a:solidFill>
            <a:srgbClr val="FFFF00"/>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Vocational Rehab</a:t>
            </a:r>
            <a:endParaRPr sz="1000"/>
          </a:p>
        </p:txBody>
      </p:sp>
      <p:sp>
        <p:nvSpPr>
          <p:cNvPr id="97" name="Google Shape;97;p18"/>
          <p:cNvSpPr/>
          <p:nvPr/>
        </p:nvSpPr>
        <p:spPr>
          <a:xfrm>
            <a:off x="2312775" y="196525"/>
            <a:ext cx="1049700" cy="489900"/>
          </a:xfrm>
          <a:prstGeom prst="homePlate">
            <a:avLst>
              <a:gd fmla="val 50000" name="adj"/>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Occupational therapy</a:t>
            </a:r>
            <a:endParaRPr sz="1000"/>
          </a:p>
        </p:txBody>
      </p:sp>
      <p:sp>
        <p:nvSpPr>
          <p:cNvPr id="98" name="Google Shape;98;p18"/>
          <p:cNvSpPr/>
          <p:nvPr/>
        </p:nvSpPr>
        <p:spPr>
          <a:xfrm>
            <a:off x="3362475" y="225150"/>
            <a:ext cx="1007700" cy="489900"/>
          </a:xfrm>
          <a:prstGeom prst="homePlate">
            <a:avLst>
              <a:gd fmla="val 50000"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Mission Nutrition</a:t>
            </a:r>
            <a:endParaRPr sz="1000"/>
          </a:p>
        </p:txBody>
      </p:sp>
      <p:sp>
        <p:nvSpPr>
          <p:cNvPr id="99" name="Google Shape;99;p18"/>
          <p:cNvSpPr/>
          <p:nvPr/>
        </p:nvSpPr>
        <p:spPr>
          <a:xfrm>
            <a:off x="133750" y="944425"/>
            <a:ext cx="1082400" cy="489900"/>
          </a:xfrm>
          <a:prstGeom prst="homePlate">
            <a:avLst>
              <a:gd fmla="val 50000" name="adj"/>
            </a:avLst>
          </a:prstGeom>
          <a:solidFill>
            <a:srgbClr val="FFFF00"/>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Recreational Therapy</a:t>
            </a:r>
            <a:endParaRPr sz="1000"/>
          </a:p>
        </p:txBody>
      </p:sp>
      <p:sp>
        <p:nvSpPr>
          <p:cNvPr id="100" name="Google Shape;100;p18"/>
          <p:cNvSpPr/>
          <p:nvPr/>
        </p:nvSpPr>
        <p:spPr>
          <a:xfrm>
            <a:off x="1216150" y="972200"/>
            <a:ext cx="1049700" cy="489900"/>
          </a:xfrm>
          <a:prstGeom prst="homePlate">
            <a:avLst>
              <a:gd fmla="val 50000"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Spirituality</a:t>
            </a:r>
            <a:endParaRPr sz="1000"/>
          </a:p>
        </p:txBody>
      </p:sp>
      <p:sp>
        <p:nvSpPr>
          <p:cNvPr id="101" name="Google Shape;101;p18"/>
          <p:cNvSpPr/>
          <p:nvPr/>
        </p:nvSpPr>
        <p:spPr>
          <a:xfrm>
            <a:off x="2253525" y="986513"/>
            <a:ext cx="1168200" cy="489900"/>
          </a:xfrm>
          <a:prstGeom prst="homePlate">
            <a:avLst>
              <a:gd fmla="val 50000" name="adj"/>
            </a:avLst>
          </a:prstGeom>
          <a:solidFill>
            <a:srgbClr val="0E63F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Criminal mind and addictive thinking</a:t>
            </a:r>
            <a:endParaRPr sz="1000">
              <a:solidFill>
                <a:schemeClr val="lt1"/>
              </a:solidFill>
            </a:endParaRPr>
          </a:p>
        </p:txBody>
      </p:sp>
      <p:sp>
        <p:nvSpPr>
          <p:cNvPr id="102" name="Google Shape;102;p18"/>
          <p:cNvSpPr/>
          <p:nvPr/>
        </p:nvSpPr>
        <p:spPr>
          <a:xfrm>
            <a:off x="74350" y="1747875"/>
            <a:ext cx="1007700" cy="489900"/>
          </a:xfrm>
          <a:prstGeom prst="homePlate">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Anger Mangement</a:t>
            </a:r>
            <a:endParaRPr sz="1000"/>
          </a:p>
        </p:txBody>
      </p:sp>
      <p:sp>
        <p:nvSpPr>
          <p:cNvPr id="103" name="Google Shape;103;p18"/>
          <p:cNvSpPr/>
          <p:nvPr/>
        </p:nvSpPr>
        <p:spPr>
          <a:xfrm>
            <a:off x="1053425" y="1747875"/>
            <a:ext cx="1007700" cy="489900"/>
          </a:xfrm>
          <a:prstGeom prst="homePlate">
            <a:avLst>
              <a:gd fmla="val 50000" name="adj"/>
            </a:avLst>
          </a:prstGeom>
          <a:solidFill>
            <a:srgbClr val="FF9900"/>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DCHV</a:t>
            </a:r>
            <a:r>
              <a:rPr lang="en" sz="1000"/>
              <a:t> check in</a:t>
            </a:r>
            <a:endParaRPr sz="1000"/>
          </a:p>
        </p:txBody>
      </p:sp>
      <p:sp>
        <p:nvSpPr>
          <p:cNvPr id="104" name="Google Shape;104;p18"/>
          <p:cNvSpPr/>
          <p:nvPr/>
        </p:nvSpPr>
        <p:spPr>
          <a:xfrm>
            <a:off x="2061125" y="1747875"/>
            <a:ext cx="1007700" cy="489900"/>
          </a:xfrm>
          <a:prstGeom prst="homePlate">
            <a:avLst>
              <a:gd fmla="val 50000" name="adj"/>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Mindfulness</a:t>
            </a:r>
            <a:endParaRPr sz="1000"/>
          </a:p>
        </p:txBody>
      </p:sp>
      <p:sp>
        <p:nvSpPr>
          <p:cNvPr id="105" name="Google Shape;105;p18"/>
          <p:cNvSpPr/>
          <p:nvPr/>
        </p:nvSpPr>
        <p:spPr>
          <a:xfrm>
            <a:off x="133750" y="2744750"/>
            <a:ext cx="1007700" cy="489900"/>
          </a:xfrm>
          <a:prstGeom prst="homePlate">
            <a:avLst>
              <a:gd fmla="val 50000" name="adj"/>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Emotional honesty</a:t>
            </a:r>
            <a:endParaRPr sz="1000"/>
          </a:p>
        </p:txBody>
      </p:sp>
      <p:sp>
        <p:nvSpPr>
          <p:cNvPr id="106" name="Google Shape;106;p18"/>
          <p:cNvSpPr/>
          <p:nvPr/>
        </p:nvSpPr>
        <p:spPr>
          <a:xfrm>
            <a:off x="1082050" y="2744750"/>
            <a:ext cx="1137300" cy="489900"/>
          </a:xfrm>
          <a:prstGeom prst="homePlate">
            <a:avLst>
              <a:gd fmla="val 50000" name="adj"/>
            </a:avLst>
          </a:prstGeom>
          <a:solidFill>
            <a:srgbClr val="FFFF00"/>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Recreational Therapy</a:t>
            </a:r>
            <a:endParaRPr sz="1000"/>
          </a:p>
        </p:txBody>
      </p:sp>
      <p:sp>
        <p:nvSpPr>
          <p:cNvPr id="107" name="Google Shape;107;p18"/>
          <p:cNvSpPr/>
          <p:nvPr/>
        </p:nvSpPr>
        <p:spPr>
          <a:xfrm>
            <a:off x="2219350" y="2777725"/>
            <a:ext cx="1007700" cy="489900"/>
          </a:xfrm>
          <a:prstGeom prst="homePlate">
            <a:avLst>
              <a:gd fmla="val 50000" name="adj"/>
            </a:avLst>
          </a:prstGeom>
          <a:solidFill>
            <a:srgbClr val="0E63F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Healthy Living</a:t>
            </a:r>
            <a:endParaRPr sz="1000">
              <a:solidFill>
                <a:schemeClr val="lt1"/>
              </a:solidFill>
            </a:endParaRPr>
          </a:p>
        </p:txBody>
      </p:sp>
      <p:sp>
        <p:nvSpPr>
          <p:cNvPr id="108" name="Google Shape;108;p18"/>
          <p:cNvSpPr/>
          <p:nvPr/>
        </p:nvSpPr>
        <p:spPr>
          <a:xfrm>
            <a:off x="3227050" y="2815650"/>
            <a:ext cx="1007700" cy="489900"/>
          </a:xfrm>
          <a:prstGeom prst="homePlate">
            <a:avLst>
              <a:gd fmla="val 50000" name="adj"/>
            </a:avLst>
          </a:prstGeom>
          <a:solidFill>
            <a:srgbClr val="FFFF00"/>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Whole Health</a:t>
            </a:r>
            <a:endParaRPr sz="1000"/>
          </a:p>
        </p:txBody>
      </p:sp>
      <p:sp>
        <p:nvSpPr>
          <p:cNvPr id="109" name="Google Shape;109;p18"/>
          <p:cNvSpPr/>
          <p:nvPr/>
        </p:nvSpPr>
        <p:spPr>
          <a:xfrm>
            <a:off x="0" y="3783575"/>
            <a:ext cx="1007700" cy="489900"/>
          </a:xfrm>
          <a:prstGeom prst="homePlate">
            <a:avLst>
              <a:gd fmla="val 50000" name="adj"/>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Mindfulness</a:t>
            </a:r>
            <a:endParaRPr sz="1000"/>
          </a:p>
        </p:txBody>
      </p:sp>
      <p:sp>
        <p:nvSpPr>
          <p:cNvPr id="110" name="Google Shape;110;p18"/>
          <p:cNvSpPr/>
          <p:nvPr/>
        </p:nvSpPr>
        <p:spPr>
          <a:xfrm>
            <a:off x="1007700" y="3783575"/>
            <a:ext cx="1007700" cy="489900"/>
          </a:xfrm>
          <a:prstGeom prst="homePlate">
            <a:avLst>
              <a:gd fmla="val 50000" name="adj"/>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Essential for recovery</a:t>
            </a:r>
            <a:endParaRPr sz="1000"/>
          </a:p>
        </p:txBody>
      </p:sp>
      <p:sp>
        <p:nvSpPr>
          <p:cNvPr id="111" name="Google Shape;111;p18"/>
          <p:cNvSpPr/>
          <p:nvPr/>
        </p:nvSpPr>
        <p:spPr>
          <a:xfrm>
            <a:off x="2015400" y="3807575"/>
            <a:ext cx="1007700" cy="489900"/>
          </a:xfrm>
          <a:prstGeom prst="homePlate">
            <a:avLst>
              <a:gd fmla="val 50000"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Reflection point</a:t>
            </a:r>
            <a:endParaRPr sz="1200"/>
          </a:p>
        </p:txBody>
      </p:sp>
      <p:sp>
        <p:nvSpPr>
          <p:cNvPr id="112" name="Google Shape;112;p18"/>
          <p:cNvSpPr txBox="1"/>
          <p:nvPr/>
        </p:nvSpPr>
        <p:spPr>
          <a:xfrm>
            <a:off x="5744400" y="264675"/>
            <a:ext cx="2711400" cy="2970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The ‘DCHV check-in’ is </a:t>
            </a:r>
            <a:r>
              <a:rPr lang="en" sz="1800">
                <a:solidFill>
                  <a:schemeClr val="lt1"/>
                </a:solidFill>
              </a:rPr>
              <a:t>performed</a:t>
            </a:r>
            <a:r>
              <a:rPr lang="en" sz="1800">
                <a:solidFill>
                  <a:schemeClr val="lt1"/>
                </a:solidFill>
              </a:rPr>
              <a:t> in all the courses. Leaving no actual response time. Forcing us to share sensitive information with those whom may misuse it, as well as showing no compassion to the issue.</a:t>
            </a:r>
            <a:endParaRPr sz="1800">
              <a:solidFill>
                <a:schemeClr val="lt1"/>
              </a:solidFill>
            </a:endParaRPr>
          </a:p>
        </p:txBody>
      </p:sp>
      <p:pic>
        <p:nvPicPr>
          <p:cNvPr id="113" name="Google Shape;113;p18" title="logo_prime.png"/>
          <p:cNvPicPr preferRelativeResize="0"/>
          <p:nvPr/>
        </p:nvPicPr>
        <p:blipFill>
          <a:blip r:embed="rId3">
            <a:alphaModFix/>
          </a:blip>
          <a:stretch>
            <a:fillRect/>
          </a:stretch>
        </p:blipFill>
        <p:spPr>
          <a:xfrm>
            <a:off x="0" y="4268750"/>
            <a:ext cx="1364649" cy="874750"/>
          </a:xfrm>
          <a:prstGeom prst="rect">
            <a:avLst/>
          </a:prstGeom>
          <a:noFill/>
          <a:ln>
            <a:noFill/>
          </a:ln>
        </p:spPr>
      </p:pic>
      <p:sp>
        <p:nvSpPr>
          <p:cNvPr id="114" name="Google Shape;114;p18"/>
          <p:cNvSpPr txBox="1"/>
          <p:nvPr/>
        </p:nvSpPr>
        <p:spPr>
          <a:xfrm>
            <a:off x="3485000" y="3540950"/>
            <a:ext cx="4030800" cy="615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Marked in </a:t>
            </a:r>
            <a:r>
              <a:rPr lang="en">
                <a:solidFill>
                  <a:schemeClr val="dk2"/>
                </a:solidFill>
                <a:highlight>
                  <a:srgbClr val="FF0000"/>
                </a:highlight>
              </a:rPr>
              <a:t>red</a:t>
            </a:r>
            <a:r>
              <a:rPr lang="en">
                <a:solidFill>
                  <a:schemeClr val="dk2"/>
                </a:solidFill>
              </a:rPr>
              <a:t> are courses with inappropriate and unethical conversations. </a:t>
            </a:r>
            <a:endParaRPr>
              <a:solidFill>
                <a:schemeClr val="dk2"/>
              </a:solidFill>
            </a:endParaRPr>
          </a:p>
        </p:txBody>
      </p:sp>
      <p:pic>
        <p:nvPicPr>
          <p:cNvPr id="115" name="Google Shape;115;p18" title="52_logo.png"/>
          <p:cNvPicPr preferRelativeResize="0"/>
          <p:nvPr/>
        </p:nvPicPr>
        <p:blipFill>
          <a:blip r:embed="rId4">
            <a:alphaModFix/>
          </a:blip>
          <a:stretch>
            <a:fillRect/>
          </a:stretch>
        </p:blipFill>
        <p:spPr>
          <a:xfrm>
            <a:off x="8320950" y="4478698"/>
            <a:ext cx="823050" cy="671800"/>
          </a:xfrm>
          <a:prstGeom prst="rect">
            <a:avLst/>
          </a:prstGeom>
          <a:noFill/>
          <a:ln>
            <a:noFill/>
          </a:ln>
        </p:spPr>
      </p:pic>
      <p:sp>
        <p:nvSpPr>
          <p:cNvPr id="116" name="Google Shape;116;p18"/>
          <p:cNvSpPr txBox="1"/>
          <p:nvPr/>
        </p:nvSpPr>
        <p:spPr>
          <a:xfrm>
            <a:off x="3485000" y="4268750"/>
            <a:ext cx="2288400" cy="489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Marked in </a:t>
            </a:r>
            <a:r>
              <a:rPr lang="en" sz="1200">
                <a:solidFill>
                  <a:schemeClr val="dk2"/>
                </a:solidFill>
                <a:highlight>
                  <a:srgbClr val="0C57D3"/>
                </a:highlight>
              </a:rPr>
              <a:t>blue</a:t>
            </a:r>
            <a:r>
              <a:rPr lang="en" sz="1200">
                <a:solidFill>
                  <a:schemeClr val="dk2"/>
                </a:solidFill>
              </a:rPr>
              <a:t> are class that do not occur</a:t>
            </a:r>
            <a:endParaRPr sz="1200">
              <a:solidFill>
                <a:schemeClr val="dk2"/>
              </a:solidFill>
            </a:endParaRPr>
          </a:p>
        </p:txBody>
      </p:sp>
      <p:sp>
        <p:nvSpPr>
          <p:cNvPr id="117" name="Google Shape;117;p18"/>
          <p:cNvSpPr txBox="1"/>
          <p:nvPr/>
        </p:nvSpPr>
        <p:spPr>
          <a:xfrm>
            <a:off x="6112700" y="4268750"/>
            <a:ext cx="1581000" cy="489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Marked in </a:t>
            </a:r>
            <a:r>
              <a:rPr lang="en" sz="1000">
                <a:solidFill>
                  <a:schemeClr val="dk2"/>
                </a:solidFill>
                <a:highlight>
                  <a:srgbClr val="FFFF00"/>
                </a:highlight>
              </a:rPr>
              <a:t>yellow</a:t>
            </a:r>
            <a:r>
              <a:rPr lang="en" sz="1000">
                <a:solidFill>
                  <a:schemeClr val="dk2"/>
                </a:solidFill>
              </a:rPr>
              <a:t> class with little relevency</a:t>
            </a:r>
            <a:endParaRPr sz="1000">
              <a:solidFill>
                <a:schemeClr val="dk2"/>
              </a:solidFill>
            </a:endParaRPr>
          </a:p>
        </p:txBody>
      </p:sp>
      <p:sp>
        <p:nvSpPr>
          <p:cNvPr id="118" name="Google Shape;118;p18"/>
          <p:cNvSpPr txBox="1"/>
          <p:nvPr/>
        </p:nvSpPr>
        <p:spPr>
          <a:xfrm>
            <a:off x="3577775" y="4797100"/>
            <a:ext cx="2863800" cy="353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Marked in </a:t>
            </a:r>
            <a:r>
              <a:rPr lang="en" sz="1000">
                <a:solidFill>
                  <a:schemeClr val="dk2"/>
                </a:solidFill>
                <a:highlight>
                  <a:srgbClr val="00FF00"/>
                </a:highlight>
              </a:rPr>
              <a:t>green</a:t>
            </a:r>
            <a:r>
              <a:rPr lang="en" sz="1000">
                <a:solidFill>
                  <a:schemeClr val="dk2"/>
                </a:solidFill>
              </a:rPr>
              <a:t> are acceptable class</a:t>
            </a:r>
            <a:endParaRPr sz="10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Lack of therapeutic time</a:t>
            </a:r>
            <a:endParaRPr/>
          </a:p>
        </p:txBody>
      </p:sp>
      <p:sp>
        <p:nvSpPr>
          <p:cNvPr id="124" name="Google Shape;12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Loud knocking every two hours called ‘Health and safety’ checks ( from 8am to 10pm).</a:t>
            </a:r>
            <a:endParaRPr/>
          </a:p>
          <a:p>
            <a:pPr indent="-342900" lvl="0" marL="457200" rtl="0" algn="l">
              <a:spcBef>
                <a:spcPts val="0"/>
              </a:spcBef>
              <a:spcAft>
                <a:spcPts val="0"/>
              </a:spcAft>
              <a:buSzPts val="1800"/>
              <a:buChar char="-"/>
            </a:pPr>
            <a:r>
              <a:rPr lang="en"/>
              <a:t>‘Room inspections’ done on off hour.</a:t>
            </a:r>
            <a:endParaRPr/>
          </a:p>
          <a:p>
            <a:pPr indent="-342900" lvl="0" marL="457200" rtl="0" algn="l">
              <a:spcBef>
                <a:spcPts val="0"/>
              </a:spcBef>
              <a:spcAft>
                <a:spcPts val="0"/>
              </a:spcAft>
              <a:buSzPts val="1800"/>
              <a:buChar char="-"/>
            </a:pPr>
            <a:r>
              <a:rPr lang="en"/>
              <a:t>Unable to leave building similar to CT6.</a:t>
            </a:r>
            <a:endParaRPr/>
          </a:p>
          <a:p>
            <a:pPr indent="-342900" lvl="0" marL="457200" rtl="0" algn="l">
              <a:spcBef>
                <a:spcPts val="0"/>
              </a:spcBef>
              <a:spcAft>
                <a:spcPts val="0"/>
              </a:spcAft>
              <a:buSzPts val="1800"/>
              <a:buChar char="-"/>
            </a:pPr>
            <a:r>
              <a:rPr lang="en"/>
              <a:t>After 10pm check seem to be done every three throughout the night ( by nursing).</a:t>
            </a:r>
            <a:endParaRPr/>
          </a:p>
          <a:p>
            <a:pPr indent="-342900" lvl="0" marL="457200" rtl="0" algn="l">
              <a:spcBef>
                <a:spcPts val="0"/>
              </a:spcBef>
              <a:spcAft>
                <a:spcPts val="0"/>
              </a:spcAft>
              <a:buSzPts val="1800"/>
              <a:buChar char="-"/>
            </a:pPr>
            <a:r>
              <a:rPr lang="en"/>
              <a:t>Intercoms are loudly continuously up to 10pm each day.</a:t>
            </a:r>
            <a:endParaRPr/>
          </a:p>
          <a:p>
            <a:pPr indent="-342900" lvl="0" marL="457200" rtl="0" algn="l">
              <a:spcBef>
                <a:spcPts val="0"/>
              </a:spcBef>
              <a:spcAft>
                <a:spcPts val="0"/>
              </a:spcAft>
              <a:buSzPts val="1800"/>
              <a:buChar char="-"/>
            </a:pPr>
            <a:r>
              <a:rPr lang="en"/>
              <a:t>Lack of access to affordable hygiene materials.</a:t>
            </a:r>
            <a:endParaRPr/>
          </a:p>
          <a:p>
            <a:pPr indent="-342900" lvl="0" marL="457200" rtl="0" algn="l">
              <a:spcBef>
                <a:spcPts val="0"/>
              </a:spcBef>
              <a:spcAft>
                <a:spcPts val="0"/>
              </a:spcAft>
              <a:buSzPts val="1800"/>
              <a:buChar char="-"/>
            </a:pPr>
            <a:r>
              <a:rPr lang="en"/>
              <a:t>One least than minutes interaction with case manager with no follow-up/through.</a:t>
            </a:r>
            <a:endParaRPr/>
          </a:p>
          <a:p>
            <a:pPr indent="-342900" lvl="0" marL="457200" rtl="0" algn="l">
              <a:spcBef>
                <a:spcPts val="0"/>
              </a:spcBef>
              <a:spcAft>
                <a:spcPts val="0"/>
              </a:spcAft>
              <a:buSzPts val="1800"/>
              <a:buChar char="-"/>
            </a:pPr>
            <a:r>
              <a:rPr lang="en"/>
              <a:t>Program leads are alway unavailable to resolve issues or address concerns. </a:t>
            </a:r>
            <a:endParaRPr/>
          </a:p>
          <a:p>
            <a:pPr indent="-342900" lvl="0" marL="457200" rtl="0" algn="l">
              <a:spcBef>
                <a:spcPts val="0"/>
              </a:spcBef>
              <a:spcAft>
                <a:spcPts val="0"/>
              </a:spcAft>
              <a:buSzPts val="1800"/>
              <a:buChar char="-"/>
            </a:pPr>
            <a:r>
              <a:rPr lang="en"/>
              <a:t>The are no Veterans Affairs programs for healthy adults under the age of 60.</a:t>
            </a:r>
            <a:endParaRPr/>
          </a:p>
        </p:txBody>
      </p:sp>
      <p:pic>
        <p:nvPicPr>
          <p:cNvPr id="125" name="Google Shape;125;p19" title="logo_prime.png"/>
          <p:cNvPicPr preferRelativeResize="0"/>
          <p:nvPr/>
        </p:nvPicPr>
        <p:blipFill>
          <a:blip r:embed="rId3">
            <a:alphaModFix/>
          </a:blip>
          <a:stretch>
            <a:fillRect/>
          </a:stretch>
        </p:blipFill>
        <p:spPr>
          <a:xfrm>
            <a:off x="0" y="4268750"/>
            <a:ext cx="1364649" cy="874750"/>
          </a:xfrm>
          <a:prstGeom prst="rect">
            <a:avLst/>
          </a:prstGeom>
          <a:noFill/>
          <a:ln>
            <a:noFill/>
          </a:ln>
        </p:spPr>
      </p:pic>
      <p:pic>
        <p:nvPicPr>
          <p:cNvPr id="126" name="Google Shape;126;p19" title="52_logo.png"/>
          <p:cNvPicPr preferRelativeResize="0"/>
          <p:nvPr/>
        </p:nvPicPr>
        <p:blipFill>
          <a:blip r:embed="rId4">
            <a:alphaModFix/>
          </a:blip>
          <a:stretch>
            <a:fillRect/>
          </a:stretch>
        </p:blipFill>
        <p:spPr>
          <a:xfrm>
            <a:off x="8320950" y="4471700"/>
            <a:ext cx="823050" cy="671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0" y="19134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Nutrition</a:t>
            </a:r>
            <a:endParaRPr/>
          </a:p>
        </p:txBody>
      </p:sp>
      <p:pic>
        <p:nvPicPr>
          <p:cNvPr id="132" name="Google Shape;132;p20" title="logo_prime.png"/>
          <p:cNvPicPr preferRelativeResize="0"/>
          <p:nvPr/>
        </p:nvPicPr>
        <p:blipFill>
          <a:blip r:embed="rId3">
            <a:alphaModFix/>
          </a:blip>
          <a:stretch>
            <a:fillRect/>
          </a:stretch>
        </p:blipFill>
        <p:spPr>
          <a:xfrm>
            <a:off x="0" y="4268750"/>
            <a:ext cx="1364649" cy="874750"/>
          </a:xfrm>
          <a:prstGeom prst="rect">
            <a:avLst/>
          </a:prstGeom>
          <a:noFill/>
          <a:ln>
            <a:noFill/>
          </a:ln>
        </p:spPr>
      </p:pic>
      <p:pic>
        <p:nvPicPr>
          <p:cNvPr id="133" name="Google Shape;133;p20" title="52_logo.png"/>
          <p:cNvPicPr preferRelativeResize="0"/>
          <p:nvPr/>
        </p:nvPicPr>
        <p:blipFill>
          <a:blip r:embed="rId4">
            <a:alphaModFix/>
          </a:blip>
          <a:stretch>
            <a:fillRect/>
          </a:stretch>
        </p:blipFill>
        <p:spPr>
          <a:xfrm>
            <a:off x="8320950" y="4478698"/>
            <a:ext cx="823050" cy="671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Best meal </a:t>
            </a:r>
            <a:endParaRPr/>
          </a:p>
        </p:txBody>
      </p:sp>
      <p:pic>
        <p:nvPicPr>
          <p:cNvPr id="139" name="Google Shape;139;p21" title="IMG_20260417_171439974.jpg"/>
          <p:cNvPicPr preferRelativeResize="0"/>
          <p:nvPr/>
        </p:nvPicPr>
        <p:blipFill>
          <a:blip r:embed="rId3">
            <a:alphaModFix/>
          </a:blip>
          <a:stretch>
            <a:fillRect/>
          </a:stretch>
        </p:blipFill>
        <p:spPr>
          <a:xfrm>
            <a:off x="1581525" y="1152475"/>
            <a:ext cx="5822300" cy="3275024"/>
          </a:xfrm>
          <a:prstGeom prst="rect">
            <a:avLst/>
          </a:prstGeom>
          <a:noFill/>
          <a:ln>
            <a:noFill/>
          </a:ln>
        </p:spPr>
      </p:pic>
      <p:pic>
        <p:nvPicPr>
          <p:cNvPr id="140" name="Google Shape;140;p21" title="logo_prime.png"/>
          <p:cNvPicPr preferRelativeResize="0"/>
          <p:nvPr/>
        </p:nvPicPr>
        <p:blipFill>
          <a:blip r:embed="rId4">
            <a:alphaModFix/>
          </a:blip>
          <a:stretch>
            <a:fillRect/>
          </a:stretch>
        </p:blipFill>
        <p:spPr>
          <a:xfrm>
            <a:off x="0" y="4268750"/>
            <a:ext cx="1364649" cy="874750"/>
          </a:xfrm>
          <a:prstGeom prst="rect">
            <a:avLst/>
          </a:prstGeom>
          <a:noFill/>
          <a:ln>
            <a:noFill/>
          </a:ln>
        </p:spPr>
      </p:pic>
      <p:pic>
        <p:nvPicPr>
          <p:cNvPr id="141" name="Google Shape;141;p21" title="52_logo.png"/>
          <p:cNvPicPr preferRelativeResize="0"/>
          <p:nvPr/>
        </p:nvPicPr>
        <p:blipFill>
          <a:blip r:embed="rId5">
            <a:alphaModFix/>
          </a:blip>
          <a:stretch>
            <a:fillRect/>
          </a:stretch>
        </p:blipFill>
        <p:spPr>
          <a:xfrm>
            <a:off x="8320950" y="4471700"/>
            <a:ext cx="823050" cy="671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Lack of Healthy snack options</a:t>
            </a:r>
            <a:endParaRPr/>
          </a:p>
        </p:txBody>
      </p:sp>
      <p:pic>
        <p:nvPicPr>
          <p:cNvPr id="147" name="Google Shape;147;p22" title="IMG_20260417_191845064.jpg"/>
          <p:cNvPicPr preferRelativeResize="0"/>
          <p:nvPr/>
        </p:nvPicPr>
        <p:blipFill>
          <a:blip r:embed="rId3">
            <a:alphaModFix/>
          </a:blip>
          <a:stretch>
            <a:fillRect/>
          </a:stretch>
        </p:blipFill>
        <p:spPr>
          <a:xfrm>
            <a:off x="152400" y="1170125"/>
            <a:ext cx="2744749" cy="3820974"/>
          </a:xfrm>
          <a:prstGeom prst="rect">
            <a:avLst/>
          </a:prstGeom>
          <a:noFill/>
          <a:ln>
            <a:noFill/>
          </a:ln>
        </p:spPr>
      </p:pic>
      <p:pic>
        <p:nvPicPr>
          <p:cNvPr id="148" name="Google Shape;148;p22" title="IMG_20260417_191846994.jpg"/>
          <p:cNvPicPr preferRelativeResize="0"/>
          <p:nvPr/>
        </p:nvPicPr>
        <p:blipFill>
          <a:blip r:embed="rId4">
            <a:alphaModFix/>
          </a:blip>
          <a:stretch>
            <a:fillRect/>
          </a:stretch>
        </p:blipFill>
        <p:spPr>
          <a:xfrm>
            <a:off x="3049549" y="1170125"/>
            <a:ext cx="2149298" cy="3820974"/>
          </a:xfrm>
          <a:prstGeom prst="rect">
            <a:avLst/>
          </a:prstGeom>
          <a:noFill/>
          <a:ln>
            <a:noFill/>
          </a:ln>
        </p:spPr>
      </p:pic>
      <p:sp>
        <p:nvSpPr>
          <p:cNvPr id="149" name="Google Shape;149;p22"/>
          <p:cNvSpPr txBox="1"/>
          <p:nvPr/>
        </p:nvSpPr>
        <p:spPr>
          <a:xfrm>
            <a:off x="6852700" y="1428750"/>
            <a:ext cx="2037300" cy="260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Also misleading. Claims 10 cent discount. But actual adds 10 cents to each purchase.</a:t>
            </a:r>
            <a:endParaRPr sz="1800">
              <a:solidFill>
                <a:schemeClr val="dk2"/>
              </a:solidFill>
            </a:endParaRPr>
          </a:p>
        </p:txBody>
      </p:sp>
      <p:pic>
        <p:nvPicPr>
          <p:cNvPr id="150" name="Google Shape;150;p22" title="logo_prime.png"/>
          <p:cNvPicPr preferRelativeResize="0"/>
          <p:nvPr/>
        </p:nvPicPr>
        <p:blipFill>
          <a:blip r:embed="rId5">
            <a:alphaModFix/>
          </a:blip>
          <a:stretch>
            <a:fillRect/>
          </a:stretch>
        </p:blipFill>
        <p:spPr>
          <a:xfrm>
            <a:off x="7745675" y="-7750"/>
            <a:ext cx="1364649" cy="874750"/>
          </a:xfrm>
          <a:prstGeom prst="rect">
            <a:avLst/>
          </a:prstGeom>
          <a:noFill/>
          <a:ln>
            <a:noFill/>
          </a:ln>
        </p:spPr>
      </p:pic>
      <p:pic>
        <p:nvPicPr>
          <p:cNvPr id="151" name="Google Shape;151;p22" title="52_logo.png"/>
          <p:cNvPicPr preferRelativeResize="0"/>
          <p:nvPr/>
        </p:nvPicPr>
        <p:blipFill>
          <a:blip r:embed="rId6">
            <a:alphaModFix/>
          </a:blip>
          <a:stretch>
            <a:fillRect/>
          </a:stretch>
        </p:blipFill>
        <p:spPr>
          <a:xfrm>
            <a:off x="8320950" y="4471700"/>
            <a:ext cx="823050" cy="671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Progress Award (method the VA uses to evaluated)</a:t>
            </a:r>
            <a:endParaRPr/>
          </a:p>
        </p:txBody>
      </p:sp>
      <p:sp>
        <p:nvSpPr>
          <p:cNvPr id="157" name="Google Shape;15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This certifies your active engagement toward achievement of your housing goals during your participation in the Mental Health Residential Rehabilitation Treatment Program’</a:t>
            </a:r>
            <a:endParaRPr/>
          </a:p>
        </p:txBody>
      </p:sp>
      <p:grpSp>
        <p:nvGrpSpPr>
          <p:cNvPr id="158" name="Google Shape;158;p23"/>
          <p:cNvGrpSpPr/>
          <p:nvPr/>
        </p:nvGrpSpPr>
        <p:grpSpPr>
          <a:xfrm>
            <a:off x="311707" y="2265239"/>
            <a:ext cx="7567404" cy="731700"/>
            <a:chOff x="444182" y="438789"/>
            <a:chExt cx="7567404" cy="731700"/>
          </a:xfrm>
        </p:grpSpPr>
        <p:sp>
          <p:nvSpPr>
            <p:cNvPr id="159" name="Google Shape;159;p23"/>
            <p:cNvSpPr txBox="1"/>
            <p:nvPr/>
          </p:nvSpPr>
          <p:spPr>
            <a:xfrm>
              <a:off x="444182" y="488975"/>
              <a:ext cx="22710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 sz="4200">
                  <a:solidFill>
                    <a:srgbClr val="085630"/>
                  </a:solidFill>
                  <a:latin typeface="Roboto Medium"/>
                  <a:ea typeface="Roboto Medium"/>
                  <a:cs typeface="Roboto Medium"/>
                  <a:sym typeface="Roboto Medium"/>
                </a:rPr>
                <a:t>P </a:t>
              </a:r>
              <a:endParaRPr sz="4200">
                <a:solidFill>
                  <a:srgbClr val="085630"/>
                </a:solidFill>
                <a:latin typeface="Roboto Medium"/>
                <a:ea typeface="Roboto Medium"/>
                <a:cs typeface="Roboto Medium"/>
                <a:sym typeface="Roboto Medium"/>
              </a:endParaRPr>
            </a:p>
          </p:txBody>
        </p:sp>
        <p:sp>
          <p:nvSpPr>
            <p:cNvPr id="160" name="Google Shape;160;p23"/>
            <p:cNvSpPr/>
            <p:nvPr/>
          </p:nvSpPr>
          <p:spPr>
            <a:xfrm>
              <a:off x="2789785" y="438789"/>
              <a:ext cx="5221800" cy="731700"/>
            </a:xfrm>
            <a:prstGeom prst="rect">
              <a:avLst/>
            </a:prstGeom>
            <a:solidFill>
              <a:srgbClr val="085630"/>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23"/>
            <p:cNvSpPr txBox="1"/>
            <p:nvPr/>
          </p:nvSpPr>
          <p:spPr>
            <a:xfrm>
              <a:off x="2914389" y="523065"/>
              <a:ext cx="4765800" cy="5754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lang="en" sz="1200">
                  <a:solidFill>
                    <a:srgbClr val="FFFFFF"/>
                  </a:solidFill>
                  <a:latin typeface="Roboto"/>
                  <a:ea typeface="Roboto"/>
                  <a:cs typeface="Roboto"/>
                  <a:sym typeface="Roboto"/>
                </a:rPr>
                <a:t>Participation</a:t>
              </a:r>
              <a:endParaRPr sz="1200">
                <a:solidFill>
                  <a:srgbClr val="FFFFFF"/>
                </a:solidFill>
                <a:latin typeface="Roboto"/>
                <a:ea typeface="Roboto"/>
                <a:cs typeface="Roboto"/>
                <a:sym typeface="Roboto"/>
              </a:endParaRPr>
            </a:p>
            <a:p>
              <a:pPr indent="-292100" lvl="0" marL="457200" rtl="0" algn="l">
                <a:lnSpc>
                  <a:spcPct val="115000"/>
                </a:lnSpc>
                <a:spcBef>
                  <a:spcPts val="0"/>
                </a:spcBef>
                <a:spcAft>
                  <a:spcPts val="0"/>
                </a:spcAft>
                <a:buClr>
                  <a:srgbClr val="FFFFFF"/>
                </a:buClr>
                <a:buSzPts val="1000"/>
                <a:buFont typeface="Roboto"/>
                <a:buChar char="❏"/>
              </a:pPr>
              <a:r>
                <a:rPr lang="en" sz="1000">
                  <a:solidFill>
                    <a:srgbClr val="FFFFFF"/>
                  </a:solidFill>
                  <a:latin typeface="Roboto"/>
                  <a:ea typeface="Roboto"/>
                  <a:cs typeface="Roboto"/>
                  <a:sym typeface="Roboto"/>
                </a:rPr>
                <a:t>Attends and participates in groups</a:t>
              </a:r>
              <a:endParaRPr sz="1000">
                <a:solidFill>
                  <a:srgbClr val="FFFFFF"/>
                </a:solidFill>
                <a:latin typeface="Roboto"/>
                <a:ea typeface="Roboto"/>
                <a:cs typeface="Roboto"/>
                <a:sym typeface="Roboto"/>
              </a:endParaRPr>
            </a:p>
            <a:p>
              <a:pPr indent="-292100" lvl="0" marL="457200" rtl="0" algn="l">
                <a:lnSpc>
                  <a:spcPct val="115000"/>
                </a:lnSpc>
                <a:spcBef>
                  <a:spcPts val="0"/>
                </a:spcBef>
                <a:spcAft>
                  <a:spcPts val="0"/>
                </a:spcAft>
                <a:buClr>
                  <a:srgbClr val="FFFFFF"/>
                </a:buClr>
                <a:buSzPts val="1000"/>
                <a:buFont typeface="Roboto"/>
                <a:buChar char="❏"/>
              </a:pPr>
              <a:r>
                <a:rPr lang="en" sz="1000">
                  <a:solidFill>
                    <a:srgbClr val="FFFFFF"/>
                  </a:solidFill>
                  <a:latin typeface="Roboto"/>
                  <a:ea typeface="Roboto"/>
                  <a:cs typeface="Roboto"/>
                  <a:sym typeface="Roboto"/>
                </a:rPr>
                <a:t>Attends scheduled appointments with providers</a:t>
              </a:r>
              <a:endParaRPr sz="1000">
                <a:solidFill>
                  <a:srgbClr val="FFFFFF"/>
                </a:solidFill>
                <a:latin typeface="Roboto"/>
                <a:ea typeface="Roboto"/>
                <a:cs typeface="Roboto"/>
                <a:sym typeface="Roboto"/>
              </a:endParaRPr>
            </a:p>
          </p:txBody>
        </p:sp>
      </p:grpSp>
      <p:grpSp>
        <p:nvGrpSpPr>
          <p:cNvPr id="162" name="Google Shape;162;p23"/>
          <p:cNvGrpSpPr/>
          <p:nvPr/>
        </p:nvGrpSpPr>
        <p:grpSpPr>
          <a:xfrm>
            <a:off x="381677" y="3219625"/>
            <a:ext cx="7099310" cy="731700"/>
            <a:chOff x="550777" y="1323150"/>
            <a:chExt cx="7099310" cy="731700"/>
          </a:xfrm>
        </p:grpSpPr>
        <p:sp>
          <p:nvSpPr>
            <p:cNvPr id="163" name="Google Shape;163;p23"/>
            <p:cNvSpPr txBox="1"/>
            <p:nvPr/>
          </p:nvSpPr>
          <p:spPr>
            <a:xfrm>
              <a:off x="550777" y="1373350"/>
              <a:ext cx="21645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 sz="4200">
                  <a:solidFill>
                    <a:srgbClr val="0B713F"/>
                  </a:solidFill>
                  <a:latin typeface="Roboto Medium"/>
                  <a:ea typeface="Roboto Medium"/>
                  <a:cs typeface="Roboto Medium"/>
                  <a:sym typeface="Roboto Medium"/>
                </a:rPr>
                <a:t>R</a:t>
              </a:r>
              <a:endParaRPr sz="4200">
                <a:solidFill>
                  <a:srgbClr val="0B713F"/>
                </a:solidFill>
                <a:latin typeface="Roboto Medium"/>
                <a:ea typeface="Roboto Medium"/>
                <a:cs typeface="Roboto Medium"/>
                <a:sym typeface="Roboto Medium"/>
              </a:endParaRPr>
            </a:p>
          </p:txBody>
        </p:sp>
        <p:sp>
          <p:nvSpPr>
            <p:cNvPr id="164" name="Google Shape;164;p23"/>
            <p:cNvSpPr/>
            <p:nvPr/>
          </p:nvSpPr>
          <p:spPr>
            <a:xfrm>
              <a:off x="2789787" y="1323150"/>
              <a:ext cx="4860300" cy="731700"/>
            </a:xfrm>
            <a:prstGeom prst="rect">
              <a:avLst/>
            </a:prstGeom>
            <a:solidFill>
              <a:srgbClr val="0B713F"/>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23"/>
            <p:cNvSpPr txBox="1"/>
            <p:nvPr/>
          </p:nvSpPr>
          <p:spPr>
            <a:xfrm>
              <a:off x="2914387" y="1529721"/>
              <a:ext cx="4373100" cy="330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lang="en" sz="1200">
                  <a:solidFill>
                    <a:srgbClr val="FFFFFF"/>
                  </a:solidFill>
                  <a:latin typeface="Roboto"/>
                  <a:ea typeface="Roboto"/>
                  <a:cs typeface="Roboto"/>
                  <a:sym typeface="Roboto"/>
                </a:rPr>
                <a:t>Resources</a:t>
              </a:r>
              <a:endParaRPr sz="1200">
                <a:solidFill>
                  <a:srgbClr val="FFFFFF"/>
                </a:solidFill>
                <a:latin typeface="Roboto"/>
                <a:ea typeface="Roboto"/>
                <a:cs typeface="Roboto"/>
                <a:sym typeface="Roboto"/>
              </a:endParaRPr>
            </a:p>
            <a:p>
              <a:pPr indent="-292100" lvl="0" marL="457200" rtl="0" algn="l">
                <a:lnSpc>
                  <a:spcPct val="115000"/>
                </a:lnSpc>
                <a:spcBef>
                  <a:spcPts val="0"/>
                </a:spcBef>
                <a:spcAft>
                  <a:spcPts val="0"/>
                </a:spcAft>
                <a:buClr>
                  <a:srgbClr val="FFFFFF"/>
                </a:buClr>
                <a:buSzPts val="1000"/>
                <a:buFont typeface="Roboto"/>
                <a:buChar char="❏"/>
              </a:pPr>
              <a:r>
                <a:rPr lang="en" sz="1000">
                  <a:solidFill>
                    <a:srgbClr val="FFFFFF"/>
                  </a:solidFill>
                  <a:latin typeface="Roboto"/>
                  <a:ea typeface="Roboto"/>
                  <a:cs typeface="Roboto"/>
                  <a:sym typeface="Roboto"/>
                </a:rPr>
                <a:t>Talks with VOA CM for transportation assistance and housing</a:t>
              </a:r>
              <a:endParaRPr sz="1000">
                <a:solidFill>
                  <a:srgbClr val="FFFFFF"/>
                </a:solidFill>
                <a:latin typeface="Roboto"/>
                <a:ea typeface="Roboto"/>
                <a:cs typeface="Roboto"/>
                <a:sym typeface="Roboto"/>
              </a:endParaRPr>
            </a:p>
            <a:p>
              <a:pPr indent="-292100" lvl="0" marL="457200" rtl="0" algn="l">
                <a:lnSpc>
                  <a:spcPct val="115000"/>
                </a:lnSpc>
                <a:spcBef>
                  <a:spcPts val="0"/>
                </a:spcBef>
                <a:spcAft>
                  <a:spcPts val="0"/>
                </a:spcAft>
                <a:buClr>
                  <a:srgbClr val="FFFFFF"/>
                </a:buClr>
                <a:buSzPts val="1000"/>
                <a:buFont typeface="Roboto"/>
                <a:buChar char="❏"/>
              </a:pPr>
              <a:r>
                <a:rPr lang="en" sz="1000">
                  <a:solidFill>
                    <a:srgbClr val="FFFFFF"/>
                  </a:solidFill>
                  <a:latin typeface="Roboto"/>
                  <a:ea typeface="Roboto"/>
                  <a:cs typeface="Roboto"/>
                  <a:sym typeface="Roboto"/>
                </a:rPr>
                <a:t>Attends SA meeting in the community</a:t>
              </a:r>
              <a:endParaRPr sz="1000">
                <a:solidFill>
                  <a:srgbClr val="FFFFFF"/>
                </a:solidFill>
                <a:latin typeface="Roboto"/>
                <a:ea typeface="Roboto"/>
                <a:cs typeface="Roboto"/>
                <a:sym typeface="Roboto"/>
              </a:endParaRPr>
            </a:p>
            <a:p>
              <a:pPr indent="-304800" lvl="0" marL="457200" rtl="0" algn="l">
                <a:lnSpc>
                  <a:spcPct val="115000"/>
                </a:lnSpc>
                <a:spcBef>
                  <a:spcPts val="0"/>
                </a:spcBef>
                <a:spcAft>
                  <a:spcPts val="0"/>
                </a:spcAft>
                <a:buClr>
                  <a:srgbClr val="FFFFFF"/>
                </a:buClr>
                <a:buSzPts val="1200"/>
                <a:buFont typeface="Roboto"/>
                <a:buChar char="❏"/>
              </a:pPr>
              <a:r>
                <a:rPr lang="en" sz="1000">
                  <a:solidFill>
                    <a:srgbClr val="FFFFFF"/>
                  </a:solidFill>
                  <a:latin typeface="Roboto"/>
                  <a:ea typeface="Roboto"/>
                  <a:cs typeface="Roboto"/>
                  <a:sym typeface="Roboto"/>
                </a:rPr>
                <a:t>Attends home groups, seeks sponsors, attends aftercare, etc.</a:t>
              </a:r>
              <a:endParaRPr sz="1000">
                <a:solidFill>
                  <a:srgbClr val="FFFFFF"/>
                </a:solidFill>
                <a:latin typeface="Roboto"/>
                <a:ea typeface="Roboto"/>
                <a:cs typeface="Roboto"/>
                <a:sym typeface="Roboto"/>
              </a:endParaRPr>
            </a:p>
          </p:txBody>
        </p:sp>
      </p:grpSp>
      <p:grpSp>
        <p:nvGrpSpPr>
          <p:cNvPr id="166" name="Google Shape;166;p23"/>
          <p:cNvGrpSpPr/>
          <p:nvPr/>
        </p:nvGrpSpPr>
        <p:grpSpPr>
          <a:xfrm>
            <a:off x="433168" y="4174000"/>
            <a:ext cx="6674432" cy="731700"/>
            <a:chOff x="612955" y="2204250"/>
            <a:chExt cx="6674432" cy="731700"/>
          </a:xfrm>
        </p:grpSpPr>
        <p:sp>
          <p:nvSpPr>
            <p:cNvPr id="167" name="Google Shape;167;p23"/>
            <p:cNvSpPr txBox="1"/>
            <p:nvPr/>
          </p:nvSpPr>
          <p:spPr>
            <a:xfrm>
              <a:off x="612955" y="2254450"/>
              <a:ext cx="21021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 sz="4200">
                  <a:solidFill>
                    <a:srgbClr val="0B7743"/>
                  </a:solidFill>
                  <a:latin typeface="Roboto Medium"/>
                  <a:ea typeface="Roboto Medium"/>
                  <a:cs typeface="Roboto Medium"/>
                  <a:sym typeface="Roboto Medium"/>
                </a:rPr>
                <a:t>O</a:t>
              </a:r>
              <a:endParaRPr sz="4200">
                <a:solidFill>
                  <a:srgbClr val="0B7743"/>
                </a:solidFill>
                <a:latin typeface="Roboto Medium"/>
                <a:ea typeface="Roboto Medium"/>
                <a:cs typeface="Roboto Medium"/>
                <a:sym typeface="Roboto Medium"/>
              </a:endParaRPr>
            </a:p>
          </p:txBody>
        </p:sp>
        <p:sp>
          <p:nvSpPr>
            <p:cNvPr id="168" name="Google Shape;168;p23"/>
            <p:cNvSpPr/>
            <p:nvPr/>
          </p:nvSpPr>
          <p:spPr>
            <a:xfrm>
              <a:off x="2789787" y="2204250"/>
              <a:ext cx="4497600" cy="731700"/>
            </a:xfrm>
            <a:prstGeom prst="rect">
              <a:avLst/>
            </a:prstGeom>
            <a:solidFill>
              <a:srgbClr val="0B774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23"/>
            <p:cNvSpPr txBox="1"/>
            <p:nvPr/>
          </p:nvSpPr>
          <p:spPr>
            <a:xfrm>
              <a:off x="2914388" y="2410805"/>
              <a:ext cx="3849900" cy="330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lang="en" sz="1200">
                  <a:solidFill>
                    <a:srgbClr val="FFFFFF"/>
                  </a:solidFill>
                  <a:latin typeface="Roboto"/>
                  <a:ea typeface="Roboto"/>
                  <a:cs typeface="Roboto"/>
                  <a:sym typeface="Roboto"/>
                </a:rPr>
                <a:t>Obtaining</a:t>
              </a:r>
              <a:endParaRPr sz="1000">
                <a:solidFill>
                  <a:srgbClr val="FFFFFF"/>
                </a:solidFill>
                <a:latin typeface="Roboto"/>
                <a:ea typeface="Roboto"/>
                <a:cs typeface="Roboto"/>
                <a:sym typeface="Roboto"/>
              </a:endParaRPr>
            </a:p>
            <a:p>
              <a:pPr indent="-292100" lvl="0" marL="457200" rtl="0" algn="l">
                <a:lnSpc>
                  <a:spcPct val="115000"/>
                </a:lnSpc>
                <a:spcBef>
                  <a:spcPts val="0"/>
                </a:spcBef>
                <a:spcAft>
                  <a:spcPts val="0"/>
                </a:spcAft>
                <a:buClr>
                  <a:srgbClr val="FFFFFF"/>
                </a:buClr>
                <a:buSzPts val="1000"/>
                <a:buFont typeface="Roboto"/>
                <a:buChar char="❏"/>
              </a:pPr>
              <a:r>
                <a:rPr lang="en" sz="1000">
                  <a:solidFill>
                    <a:srgbClr val="FFFFFF"/>
                  </a:solidFill>
                  <a:latin typeface="Roboto"/>
                  <a:ea typeface="Roboto"/>
                  <a:cs typeface="Roboto"/>
                  <a:sym typeface="Roboto"/>
                </a:rPr>
                <a:t>Obtains ID documents</a:t>
              </a:r>
              <a:endParaRPr sz="1000">
                <a:solidFill>
                  <a:srgbClr val="FFFFFF"/>
                </a:solidFill>
                <a:latin typeface="Roboto"/>
                <a:ea typeface="Roboto"/>
                <a:cs typeface="Roboto"/>
                <a:sym typeface="Roboto"/>
              </a:endParaRPr>
            </a:p>
            <a:p>
              <a:pPr indent="-292100" lvl="0" marL="457200" rtl="0" algn="l">
                <a:lnSpc>
                  <a:spcPct val="115000"/>
                </a:lnSpc>
                <a:spcBef>
                  <a:spcPts val="0"/>
                </a:spcBef>
                <a:spcAft>
                  <a:spcPts val="0"/>
                </a:spcAft>
                <a:buClr>
                  <a:srgbClr val="FFFFFF"/>
                </a:buClr>
                <a:buSzPts val="1000"/>
                <a:buFont typeface="Roboto"/>
                <a:buChar char="❏"/>
              </a:pPr>
              <a:r>
                <a:rPr lang="en" sz="1000">
                  <a:solidFill>
                    <a:srgbClr val="FFFFFF"/>
                  </a:solidFill>
                  <a:latin typeface="Roboto"/>
                  <a:ea typeface="Roboto"/>
                  <a:cs typeface="Roboto"/>
                  <a:sym typeface="Roboto"/>
                </a:rPr>
                <a:t>Obtains bank statement and income verification letter</a:t>
              </a:r>
              <a:endParaRPr sz="1000">
                <a:solidFill>
                  <a:srgbClr val="FFFFFF"/>
                </a:solidFill>
                <a:latin typeface="Roboto"/>
                <a:ea typeface="Roboto"/>
                <a:cs typeface="Roboto"/>
                <a:sym typeface="Roboto"/>
              </a:endParaRPr>
            </a:p>
            <a:p>
              <a:pPr indent="-292100" lvl="0" marL="457200" rtl="0" algn="l">
                <a:lnSpc>
                  <a:spcPct val="115000"/>
                </a:lnSpc>
                <a:spcBef>
                  <a:spcPts val="0"/>
                </a:spcBef>
                <a:spcAft>
                  <a:spcPts val="0"/>
                </a:spcAft>
                <a:buClr>
                  <a:srgbClr val="FFFFFF"/>
                </a:buClr>
                <a:buSzPts val="1000"/>
                <a:buFont typeface="Roboto"/>
                <a:buChar char="❏"/>
              </a:pPr>
              <a:r>
                <a:rPr lang="en" sz="1000">
                  <a:solidFill>
                    <a:srgbClr val="FFFFFF"/>
                  </a:solidFill>
                  <a:latin typeface="Roboto"/>
                  <a:ea typeface="Roboto"/>
                  <a:cs typeface="Roboto"/>
                  <a:sym typeface="Roboto"/>
                </a:rPr>
                <a:t>Obtains DD214</a:t>
              </a:r>
              <a:endParaRPr sz="1000">
                <a:solidFill>
                  <a:srgbClr val="FFFFFF"/>
                </a:solidFill>
                <a:latin typeface="Roboto"/>
                <a:ea typeface="Roboto"/>
                <a:cs typeface="Roboto"/>
                <a:sym typeface="Roboto"/>
              </a:endParaRPr>
            </a:p>
          </p:txBody>
        </p:sp>
      </p:grpSp>
      <p:pic>
        <p:nvPicPr>
          <p:cNvPr id="170" name="Google Shape;170;p23" title="logo_prime.png"/>
          <p:cNvPicPr preferRelativeResize="0"/>
          <p:nvPr/>
        </p:nvPicPr>
        <p:blipFill>
          <a:blip r:embed="rId3">
            <a:alphaModFix/>
          </a:blip>
          <a:stretch>
            <a:fillRect/>
          </a:stretch>
        </p:blipFill>
        <p:spPr>
          <a:xfrm>
            <a:off x="0" y="4268750"/>
            <a:ext cx="1364649" cy="874750"/>
          </a:xfrm>
          <a:prstGeom prst="rect">
            <a:avLst/>
          </a:prstGeom>
          <a:noFill/>
          <a:ln>
            <a:noFill/>
          </a:ln>
        </p:spPr>
      </p:pic>
      <p:pic>
        <p:nvPicPr>
          <p:cNvPr id="171" name="Google Shape;171;p23" title="52_logo.png"/>
          <p:cNvPicPr preferRelativeResize="0"/>
          <p:nvPr/>
        </p:nvPicPr>
        <p:blipFill>
          <a:blip r:embed="rId4">
            <a:alphaModFix/>
          </a:blip>
          <a:stretch>
            <a:fillRect/>
          </a:stretch>
        </p:blipFill>
        <p:spPr>
          <a:xfrm>
            <a:off x="8320950" y="4471700"/>
            <a:ext cx="823050" cy="671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 for consideration (no response needed)</a:t>
            </a:r>
            <a:endParaRPr/>
          </a:p>
        </p:txBody>
      </p:sp>
      <p:sp>
        <p:nvSpPr>
          <p:cNvPr id="177" name="Google Shape;17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is the Veteran Affair’s definition/standard of a </a:t>
            </a:r>
            <a:r>
              <a:rPr lang="en"/>
              <a:t>therapeutic environment?</a:t>
            </a:r>
            <a:endParaRPr/>
          </a:p>
          <a:p>
            <a:pPr indent="-342900" lvl="0" marL="457200" rtl="0" algn="l">
              <a:spcBef>
                <a:spcPts val="0"/>
              </a:spcBef>
              <a:spcAft>
                <a:spcPts val="0"/>
              </a:spcAft>
              <a:buSzPts val="1800"/>
              <a:buChar char="-"/>
            </a:pPr>
            <a:r>
              <a:rPr lang="en"/>
              <a:t>How do the VA address those with Battle Field fatigue(special operation and combat focus personnel)?</a:t>
            </a:r>
            <a:endParaRPr/>
          </a:p>
          <a:p>
            <a:pPr indent="-342900" lvl="0" marL="457200" rtl="0" algn="l">
              <a:spcBef>
                <a:spcPts val="0"/>
              </a:spcBef>
              <a:spcAft>
                <a:spcPts val="0"/>
              </a:spcAft>
              <a:buSzPts val="1800"/>
              <a:buChar char="-"/>
            </a:pPr>
            <a:r>
              <a:rPr lang="en"/>
              <a:t>How does this current process/track curve or prevent chronic homelessness among Veterans?</a:t>
            </a:r>
            <a:endParaRPr/>
          </a:p>
          <a:p>
            <a:pPr indent="-342900" lvl="0" marL="457200" rtl="0" algn="l">
              <a:spcBef>
                <a:spcPts val="0"/>
              </a:spcBef>
              <a:spcAft>
                <a:spcPts val="0"/>
              </a:spcAft>
              <a:buSzPts val="1800"/>
              <a:buChar char="-"/>
            </a:pPr>
            <a:r>
              <a:rPr lang="en"/>
              <a:t> When was the last time the tracks have been evaluated on their effectiveness?</a:t>
            </a:r>
            <a:endParaRPr/>
          </a:p>
          <a:p>
            <a:pPr indent="-342900" lvl="0" marL="457200" rtl="0" algn="l">
              <a:spcBef>
                <a:spcPts val="0"/>
              </a:spcBef>
              <a:spcAft>
                <a:spcPts val="0"/>
              </a:spcAft>
              <a:buSzPts val="1800"/>
              <a:buChar char="-"/>
            </a:pPr>
            <a:r>
              <a:rPr lang="en"/>
              <a:t>Do the instructors/social workers have any conflict of interest that weaken the fidelity of this establishment?</a:t>
            </a:r>
            <a:endParaRPr/>
          </a:p>
          <a:p>
            <a:pPr indent="-342900" lvl="0" marL="457200" rtl="0" algn="l">
              <a:spcBef>
                <a:spcPts val="0"/>
              </a:spcBef>
              <a:spcAft>
                <a:spcPts val="0"/>
              </a:spcAft>
              <a:buSzPts val="1800"/>
              <a:buChar char="-"/>
            </a:pPr>
            <a:r>
              <a:rPr lang="en"/>
              <a:t>Are Veteran not attending programs due to their perceive </a:t>
            </a:r>
            <a:r>
              <a:rPr lang="en"/>
              <a:t>irrelevancy?</a:t>
            </a:r>
            <a:endParaRPr/>
          </a:p>
          <a:p>
            <a:pPr indent="-342900" lvl="0" marL="457200" rtl="0" algn="l">
              <a:spcBef>
                <a:spcPts val="0"/>
              </a:spcBef>
              <a:spcAft>
                <a:spcPts val="0"/>
              </a:spcAft>
              <a:buSzPts val="1800"/>
              <a:buChar char="-"/>
            </a:pPr>
            <a:r>
              <a:rPr lang="en"/>
              <a:t>Should signing a legally binding document that is partially filled out be forced upon us?</a:t>
            </a:r>
            <a:endParaRPr/>
          </a:p>
          <a:p>
            <a:pPr indent="-342900" lvl="0" marL="457200" rtl="0" algn="l">
              <a:spcBef>
                <a:spcPts val="0"/>
              </a:spcBef>
              <a:spcAft>
                <a:spcPts val="0"/>
              </a:spcAft>
              <a:buSzPts val="1800"/>
              <a:buChar char="-"/>
            </a:pPr>
            <a:r>
              <a:rPr lang="en"/>
              <a:t>Who/Whom at the DOM is actually looking out for the veterans best interest?</a:t>
            </a:r>
            <a:endParaRPr/>
          </a:p>
          <a:p>
            <a:pPr indent="0" lvl="0" marL="457200" rtl="0" algn="l">
              <a:spcBef>
                <a:spcPts val="1200"/>
              </a:spcBef>
              <a:spcAft>
                <a:spcPts val="1200"/>
              </a:spcAft>
              <a:buNone/>
            </a:pPr>
            <a:r>
              <a:t/>
            </a:r>
            <a:endParaRPr/>
          </a:p>
        </p:txBody>
      </p:sp>
      <p:pic>
        <p:nvPicPr>
          <p:cNvPr id="178" name="Google Shape;178;p24" title="logo_prime.png"/>
          <p:cNvPicPr preferRelativeResize="0"/>
          <p:nvPr/>
        </p:nvPicPr>
        <p:blipFill>
          <a:blip r:embed="rId3">
            <a:alphaModFix/>
          </a:blip>
          <a:stretch>
            <a:fillRect/>
          </a:stretch>
        </p:blipFill>
        <p:spPr>
          <a:xfrm>
            <a:off x="0" y="4336075"/>
            <a:ext cx="1259625" cy="807425"/>
          </a:xfrm>
          <a:prstGeom prst="rect">
            <a:avLst/>
          </a:prstGeom>
          <a:noFill/>
          <a:ln>
            <a:noFill/>
          </a:ln>
        </p:spPr>
      </p:pic>
      <p:pic>
        <p:nvPicPr>
          <p:cNvPr id="179" name="Google Shape;179;p24" title="52_logo.png"/>
          <p:cNvPicPr preferRelativeResize="0"/>
          <p:nvPr/>
        </p:nvPicPr>
        <p:blipFill>
          <a:blip r:embed="rId4">
            <a:alphaModFix/>
          </a:blip>
          <a:stretch>
            <a:fillRect/>
          </a:stretch>
        </p:blipFill>
        <p:spPr>
          <a:xfrm>
            <a:off x="8320950" y="4471700"/>
            <a:ext cx="823050" cy="671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CIA Triad </a:t>
            </a:r>
            <a:endParaRPr/>
          </a:p>
        </p:txBody>
      </p:sp>
      <p:sp>
        <p:nvSpPr>
          <p:cNvPr id="185" name="Google Shape;185;p25"/>
          <p:cNvSpPr/>
          <p:nvPr/>
        </p:nvSpPr>
        <p:spPr>
          <a:xfrm>
            <a:off x="2944078" y="1506712"/>
            <a:ext cx="3501300" cy="3439800"/>
          </a:xfrm>
          <a:prstGeom prst="ellipse">
            <a:avLst/>
          </a:prstGeom>
          <a:solidFill>
            <a:srgbClr val="83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6" name="Google Shape;186;p25"/>
          <p:cNvGrpSpPr/>
          <p:nvPr/>
        </p:nvGrpSpPr>
        <p:grpSpPr>
          <a:xfrm>
            <a:off x="3611780" y="1115981"/>
            <a:ext cx="2166000" cy="2127878"/>
            <a:chOff x="3611776" y="414352"/>
            <a:chExt cx="2166000" cy="2166000"/>
          </a:xfrm>
        </p:grpSpPr>
        <p:sp>
          <p:nvSpPr>
            <p:cNvPr id="187" name="Google Shape;187;p25"/>
            <p:cNvSpPr/>
            <p:nvPr/>
          </p:nvSpPr>
          <p:spPr>
            <a:xfrm>
              <a:off x="3611776" y="414352"/>
              <a:ext cx="2166000" cy="2166000"/>
            </a:xfrm>
            <a:prstGeom prst="ellipse">
              <a:avLst/>
            </a:prstGeom>
            <a:solidFill>
              <a:srgbClr val="249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5"/>
            <p:cNvSpPr txBox="1"/>
            <p:nvPr/>
          </p:nvSpPr>
          <p:spPr>
            <a:xfrm>
              <a:off x="3967546" y="1027503"/>
              <a:ext cx="1496100" cy="70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Roboto"/>
                  <a:ea typeface="Roboto"/>
                  <a:cs typeface="Roboto"/>
                  <a:sym typeface="Roboto"/>
                </a:rPr>
                <a:t>Confidentiality</a:t>
              </a:r>
              <a:endParaRPr sz="1000">
                <a:solidFill>
                  <a:srgbClr val="FFFFFF"/>
                </a:solidFill>
                <a:latin typeface="Roboto"/>
                <a:ea typeface="Roboto"/>
                <a:cs typeface="Roboto"/>
                <a:sym typeface="Roboto"/>
              </a:endParaRPr>
            </a:p>
          </p:txBody>
        </p:sp>
      </p:grpSp>
      <p:grpSp>
        <p:nvGrpSpPr>
          <p:cNvPr id="189" name="Google Shape;189;p25"/>
          <p:cNvGrpSpPr/>
          <p:nvPr/>
        </p:nvGrpSpPr>
        <p:grpSpPr>
          <a:xfrm>
            <a:off x="4562262" y="2706008"/>
            <a:ext cx="2166000" cy="2127878"/>
            <a:chOff x="4562258" y="2032864"/>
            <a:chExt cx="2166000" cy="2166000"/>
          </a:xfrm>
        </p:grpSpPr>
        <p:sp>
          <p:nvSpPr>
            <p:cNvPr id="190" name="Google Shape;190;p25"/>
            <p:cNvSpPr/>
            <p:nvPr/>
          </p:nvSpPr>
          <p:spPr>
            <a:xfrm>
              <a:off x="4562258" y="2032864"/>
              <a:ext cx="2166000" cy="2166000"/>
            </a:xfrm>
            <a:prstGeom prst="ellipse">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5"/>
            <p:cNvSpPr txBox="1"/>
            <p:nvPr/>
          </p:nvSpPr>
          <p:spPr>
            <a:xfrm>
              <a:off x="5079846" y="2834728"/>
              <a:ext cx="1496100" cy="70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Roboto"/>
                  <a:ea typeface="Roboto"/>
                  <a:cs typeface="Roboto"/>
                  <a:sym typeface="Roboto"/>
                </a:rPr>
                <a:t>Integrity</a:t>
              </a:r>
              <a:endParaRPr sz="1000">
                <a:solidFill>
                  <a:srgbClr val="FFFFFF"/>
                </a:solidFill>
                <a:latin typeface="Roboto"/>
                <a:ea typeface="Roboto"/>
                <a:cs typeface="Roboto"/>
                <a:sym typeface="Roboto"/>
              </a:endParaRPr>
            </a:p>
          </p:txBody>
        </p:sp>
      </p:grpSp>
      <p:grpSp>
        <p:nvGrpSpPr>
          <p:cNvPr id="192" name="Google Shape;192;p25"/>
          <p:cNvGrpSpPr/>
          <p:nvPr/>
        </p:nvGrpSpPr>
        <p:grpSpPr>
          <a:xfrm>
            <a:off x="2702880" y="2706008"/>
            <a:ext cx="2166000" cy="2127878"/>
            <a:chOff x="2702876" y="2032864"/>
            <a:chExt cx="2166000" cy="2166000"/>
          </a:xfrm>
        </p:grpSpPr>
        <p:sp>
          <p:nvSpPr>
            <p:cNvPr id="193" name="Google Shape;193;p25"/>
            <p:cNvSpPr/>
            <p:nvPr/>
          </p:nvSpPr>
          <p:spPr>
            <a:xfrm>
              <a:off x="2702876" y="2032864"/>
              <a:ext cx="2166000" cy="2166000"/>
            </a:xfrm>
            <a:prstGeom prst="ellipse">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5"/>
            <p:cNvSpPr txBox="1"/>
            <p:nvPr/>
          </p:nvSpPr>
          <p:spPr>
            <a:xfrm>
              <a:off x="2855281" y="2834728"/>
              <a:ext cx="1496100" cy="70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Roboto"/>
                  <a:ea typeface="Roboto"/>
                  <a:cs typeface="Roboto"/>
                  <a:sym typeface="Roboto"/>
                </a:rPr>
                <a:t>Availability</a:t>
              </a:r>
              <a:endParaRPr sz="1000">
                <a:solidFill>
                  <a:srgbClr val="FFFFFF"/>
                </a:solidFill>
                <a:latin typeface="Roboto"/>
                <a:ea typeface="Roboto"/>
                <a:cs typeface="Roboto"/>
                <a:sym typeface="Roboto"/>
              </a:endParaRPr>
            </a:p>
          </p:txBody>
        </p:sp>
      </p:grpSp>
      <p:sp>
        <p:nvSpPr>
          <p:cNvPr id="195" name="Google Shape;195;p25"/>
          <p:cNvSpPr/>
          <p:nvPr/>
        </p:nvSpPr>
        <p:spPr>
          <a:xfrm>
            <a:off x="4084669" y="2620920"/>
            <a:ext cx="1225800" cy="1204200"/>
          </a:xfrm>
          <a:prstGeom prst="ellipse">
            <a:avLst/>
          </a:prstGeom>
          <a:solidFill>
            <a:srgbClr val="83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5"/>
          <p:cNvSpPr txBox="1"/>
          <p:nvPr/>
        </p:nvSpPr>
        <p:spPr>
          <a:xfrm>
            <a:off x="349900" y="1595525"/>
            <a:ext cx="1595700" cy="277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Foundational principle for  information security</a:t>
            </a:r>
            <a:endParaRPr sz="1800">
              <a:solidFill>
                <a:schemeClr val="dk2"/>
              </a:solidFill>
            </a:endParaRPr>
          </a:p>
        </p:txBody>
      </p:sp>
      <p:sp>
        <p:nvSpPr>
          <p:cNvPr id="197" name="Google Shape;197;p25"/>
          <p:cNvSpPr txBox="1"/>
          <p:nvPr/>
        </p:nvSpPr>
        <p:spPr>
          <a:xfrm>
            <a:off x="6865000" y="1091675"/>
            <a:ext cx="2120400" cy="1266600"/>
          </a:xfrm>
          <a:prstGeom prst="rect">
            <a:avLst/>
          </a:prstGeom>
          <a:noFill/>
          <a:ln>
            <a:noFill/>
          </a:ln>
        </p:spPr>
        <p:txBody>
          <a:bodyPr anchorCtr="0" anchor="t" bIns="91425" lIns="91425" spcFirstLastPara="1" rIns="91425" wrap="square" tIns="91425">
            <a:noAutofit/>
          </a:bodyPr>
          <a:lstStyle/>
          <a:p>
            <a:pPr indent="-279400" lvl="0" marL="457200" rtl="0" algn="l">
              <a:spcBef>
                <a:spcPts val="0"/>
              </a:spcBef>
              <a:spcAft>
                <a:spcPts val="0"/>
              </a:spcAft>
              <a:buClr>
                <a:schemeClr val="dk2"/>
              </a:buClr>
              <a:buSzPts val="800"/>
              <a:buChar char="●"/>
            </a:pPr>
            <a:r>
              <a:rPr b="1" lang="en" sz="1000">
                <a:solidFill>
                  <a:srgbClr val="0A0A0A"/>
                </a:solidFill>
                <a:highlight>
                  <a:srgbClr val="FFFFFF"/>
                </a:highlight>
                <a:latin typeface="Roboto"/>
                <a:ea typeface="Roboto"/>
                <a:cs typeface="Roboto"/>
                <a:sym typeface="Roboto"/>
              </a:rPr>
              <a:t>Confidentiality</a:t>
            </a:r>
            <a:r>
              <a:rPr lang="en" sz="1000">
                <a:solidFill>
                  <a:srgbClr val="0A0A0A"/>
                </a:solidFill>
                <a:highlight>
                  <a:srgbClr val="FFFFFF"/>
                </a:highlight>
                <a:latin typeface="Roboto"/>
                <a:ea typeface="Roboto"/>
                <a:cs typeface="Roboto"/>
                <a:sym typeface="Roboto"/>
              </a:rPr>
              <a:t>: Ensures that sensitive data is restricted to authorized individuals only, preventing unauthorized viewing, theft, and sharing.</a:t>
            </a:r>
            <a:endParaRPr sz="800">
              <a:solidFill>
                <a:schemeClr val="dk2"/>
              </a:solidFill>
            </a:endParaRPr>
          </a:p>
        </p:txBody>
      </p:sp>
      <p:pic>
        <p:nvPicPr>
          <p:cNvPr id="198" name="Google Shape;198;p25" title="logo_prime.png"/>
          <p:cNvPicPr preferRelativeResize="0"/>
          <p:nvPr/>
        </p:nvPicPr>
        <p:blipFill>
          <a:blip r:embed="rId3">
            <a:alphaModFix/>
          </a:blip>
          <a:stretch>
            <a:fillRect/>
          </a:stretch>
        </p:blipFill>
        <p:spPr>
          <a:xfrm>
            <a:off x="0" y="4336075"/>
            <a:ext cx="1259625" cy="807425"/>
          </a:xfrm>
          <a:prstGeom prst="rect">
            <a:avLst/>
          </a:prstGeom>
          <a:noFill/>
          <a:ln>
            <a:noFill/>
          </a:ln>
        </p:spPr>
      </p:pic>
      <p:pic>
        <p:nvPicPr>
          <p:cNvPr id="199" name="Google Shape;199;p25" title="52_logo.png"/>
          <p:cNvPicPr preferRelativeResize="0"/>
          <p:nvPr/>
        </p:nvPicPr>
        <p:blipFill>
          <a:blip r:embed="rId4">
            <a:alphaModFix/>
          </a:blip>
          <a:stretch>
            <a:fillRect/>
          </a:stretch>
        </p:blipFill>
        <p:spPr>
          <a:xfrm>
            <a:off x="8320950" y="4471700"/>
            <a:ext cx="823050" cy="671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Dom confidentiality definition</a:t>
            </a:r>
            <a:endParaRPr/>
          </a:p>
        </p:txBody>
      </p:sp>
      <p:sp>
        <p:nvSpPr>
          <p:cNvPr id="205" name="Google Shape;20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a:t>
            </a:r>
            <a:r>
              <a:rPr lang="en"/>
              <a:t>happens in group stays in group</a:t>
            </a:r>
            <a:endParaRPr/>
          </a:p>
        </p:txBody>
      </p:sp>
      <p:pic>
        <p:nvPicPr>
          <p:cNvPr id="206" name="Google Shape;206;p26" title="52_logo.png"/>
          <p:cNvPicPr preferRelativeResize="0"/>
          <p:nvPr/>
        </p:nvPicPr>
        <p:blipFill>
          <a:blip r:embed="rId3">
            <a:alphaModFix/>
          </a:blip>
          <a:stretch>
            <a:fillRect/>
          </a:stretch>
        </p:blipFill>
        <p:spPr>
          <a:xfrm>
            <a:off x="8320950" y="4478698"/>
            <a:ext cx="823050" cy="671800"/>
          </a:xfrm>
          <a:prstGeom prst="rect">
            <a:avLst/>
          </a:prstGeom>
          <a:noFill/>
          <a:ln>
            <a:noFill/>
          </a:ln>
        </p:spPr>
      </p:pic>
      <p:pic>
        <p:nvPicPr>
          <p:cNvPr id="207" name="Google Shape;207;p26" title="logo_prime.png"/>
          <p:cNvPicPr preferRelativeResize="0"/>
          <p:nvPr/>
        </p:nvPicPr>
        <p:blipFill>
          <a:blip r:embed="rId4">
            <a:alphaModFix/>
          </a:blip>
          <a:stretch>
            <a:fillRect/>
          </a:stretch>
        </p:blipFill>
        <p:spPr>
          <a:xfrm>
            <a:off x="0" y="4268750"/>
            <a:ext cx="1364649" cy="8747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600"/>
              <a:t>Synapse of mental health track</a:t>
            </a:r>
            <a:endParaRPr b="1" sz="3300"/>
          </a:p>
        </p:txBody>
      </p:sp>
      <p:sp>
        <p:nvSpPr>
          <p:cNvPr id="213" name="Google Shape;213;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My evaluation of the mental health program here at the DOM, is similar to that of the homeless program. This program focuses heavily, if not solely, on drug addiction. Alienating those who aim to better garner/understand their condition. Since every class is filibustered with the same stories and a desensitized instructor the risk of unwantedness is heightened. Forcing a profile approach highlights the lack of understanding among the staff. In conclusion, the staff focus only on what they find most comfortable/easiest and drown out individuals seeking clarity and connection.</a:t>
            </a:r>
            <a:endParaRPr/>
          </a:p>
          <a:p>
            <a:pPr indent="0" lvl="0" marL="0" rtl="0" algn="l">
              <a:spcBef>
                <a:spcPts val="0"/>
              </a:spcBef>
              <a:spcAft>
                <a:spcPts val="1200"/>
              </a:spcAft>
              <a:buNone/>
            </a:pPr>
            <a:r>
              <a:t/>
            </a:r>
            <a:endParaRPr/>
          </a:p>
        </p:txBody>
      </p:sp>
      <p:pic>
        <p:nvPicPr>
          <p:cNvPr id="214" name="Google Shape;214;p27" title="logo_prime.png"/>
          <p:cNvPicPr preferRelativeResize="0"/>
          <p:nvPr/>
        </p:nvPicPr>
        <p:blipFill>
          <a:blip r:embed="rId3">
            <a:alphaModFix/>
          </a:blip>
          <a:stretch>
            <a:fillRect/>
          </a:stretch>
        </p:blipFill>
        <p:spPr>
          <a:xfrm>
            <a:off x="0" y="4336075"/>
            <a:ext cx="1259625" cy="807425"/>
          </a:xfrm>
          <a:prstGeom prst="rect">
            <a:avLst/>
          </a:prstGeom>
          <a:noFill/>
          <a:ln>
            <a:noFill/>
          </a:ln>
        </p:spPr>
      </p:pic>
      <p:pic>
        <p:nvPicPr>
          <p:cNvPr id="215" name="Google Shape;215;p27" title="52_logo.png"/>
          <p:cNvPicPr preferRelativeResize="0"/>
          <p:nvPr/>
        </p:nvPicPr>
        <p:blipFill>
          <a:blip r:embed="rId4">
            <a:alphaModFix/>
          </a:blip>
          <a:stretch>
            <a:fillRect/>
          </a:stretch>
        </p:blipFill>
        <p:spPr>
          <a:xfrm>
            <a:off x="8320950" y="4471700"/>
            <a:ext cx="823050" cy="671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8"/>
          <p:cNvSpPr txBox="1"/>
          <p:nvPr>
            <p:ph type="title"/>
          </p:nvPr>
        </p:nvSpPr>
        <p:spPr>
          <a:xfrm>
            <a:off x="311700" y="20965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Safety,Security, Risk, and Concerns</a:t>
            </a:r>
            <a:endParaRPr/>
          </a:p>
        </p:txBody>
      </p:sp>
      <p:pic>
        <p:nvPicPr>
          <p:cNvPr id="221" name="Google Shape;221;p28" title="logo_prime.png"/>
          <p:cNvPicPr preferRelativeResize="0"/>
          <p:nvPr/>
        </p:nvPicPr>
        <p:blipFill>
          <a:blip r:embed="rId3">
            <a:alphaModFix/>
          </a:blip>
          <a:stretch>
            <a:fillRect/>
          </a:stretch>
        </p:blipFill>
        <p:spPr>
          <a:xfrm>
            <a:off x="0" y="4336075"/>
            <a:ext cx="1259625" cy="807425"/>
          </a:xfrm>
          <a:prstGeom prst="rect">
            <a:avLst/>
          </a:prstGeom>
          <a:noFill/>
          <a:ln>
            <a:noFill/>
          </a:ln>
        </p:spPr>
      </p:pic>
      <p:pic>
        <p:nvPicPr>
          <p:cNvPr id="222" name="Google Shape;222;p28" title="52_logo.png"/>
          <p:cNvPicPr preferRelativeResize="0"/>
          <p:nvPr/>
        </p:nvPicPr>
        <p:blipFill>
          <a:blip r:embed="rId4">
            <a:alphaModFix/>
          </a:blip>
          <a:stretch>
            <a:fillRect/>
          </a:stretch>
        </p:blipFill>
        <p:spPr>
          <a:xfrm>
            <a:off x="8320950" y="4478698"/>
            <a:ext cx="823050" cy="671800"/>
          </a:xfrm>
          <a:prstGeom prst="rect">
            <a:avLst/>
          </a:prstGeom>
          <a:noFill/>
          <a:ln>
            <a:noFill/>
          </a:ln>
        </p:spPr>
      </p:pic>
      <p:sp>
        <p:nvSpPr>
          <p:cNvPr id="223" name="Google Shape;223;p28"/>
          <p:cNvSpPr txBox="1"/>
          <p:nvPr/>
        </p:nvSpPr>
        <p:spPr>
          <a:xfrm>
            <a:off x="3491975" y="3457000"/>
            <a:ext cx="3925800" cy="6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Current and overall Veterans Affairs environment</a:t>
            </a:r>
            <a:endParaRPr>
              <a:solidFill>
                <a:schemeClr val="dk2"/>
              </a:solidFill>
            </a:endParaRPr>
          </a:p>
        </p:txBody>
      </p:sp>
      <p:sp>
        <p:nvSpPr>
          <p:cNvPr id="224" name="Google Shape;224;p28"/>
          <p:cNvSpPr txBox="1"/>
          <p:nvPr/>
        </p:nvSpPr>
        <p:spPr>
          <a:xfrm>
            <a:off x="4954550" y="587825"/>
            <a:ext cx="2680200" cy="503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rPr>
              <a:t>Good news: your not the only one</a:t>
            </a:r>
            <a:endParaRPr sz="1300">
              <a:solidFill>
                <a:schemeClr val="dk2"/>
              </a:solidFill>
            </a:endParaRPr>
          </a:p>
        </p:txBody>
      </p:sp>
      <p:sp>
        <p:nvSpPr>
          <p:cNvPr id="225" name="Google Shape;225;p28"/>
          <p:cNvSpPr txBox="1"/>
          <p:nvPr/>
        </p:nvSpPr>
        <p:spPr>
          <a:xfrm>
            <a:off x="0" y="520250"/>
            <a:ext cx="2876100" cy="720900"/>
          </a:xfrm>
          <a:prstGeom prst="rect">
            <a:avLst/>
          </a:prstGeom>
          <a:solidFill>
            <a:schemeClr val="dk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rPr>
              <a:t>Bad news: seems only one is working on it</a:t>
            </a:r>
            <a:endParaRPr sz="11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Advance Persistent Threat</a:t>
            </a:r>
            <a:endParaRPr/>
          </a:p>
        </p:txBody>
      </p:sp>
      <p:sp>
        <p:nvSpPr>
          <p:cNvPr id="231" name="Google Shape;23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2" name="Google Shape;232;p29" title="Screenshot 2026-04-16 08.59.25.png"/>
          <p:cNvPicPr preferRelativeResize="0"/>
          <p:nvPr/>
        </p:nvPicPr>
        <p:blipFill>
          <a:blip r:embed="rId3">
            <a:alphaModFix/>
          </a:blip>
          <a:stretch>
            <a:fillRect/>
          </a:stretch>
        </p:blipFill>
        <p:spPr>
          <a:xfrm>
            <a:off x="311700" y="1152475"/>
            <a:ext cx="8520599" cy="3416400"/>
          </a:xfrm>
          <a:prstGeom prst="rect">
            <a:avLst/>
          </a:prstGeom>
          <a:noFill/>
          <a:ln>
            <a:noFill/>
          </a:ln>
        </p:spPr>
      </p:pic>
      <p:pic>
        <p:nvPicPr>
          <p:cNvPr id="233" name="Google Shape;233;p29" title="logo_prime.png"/>
          <p:cNvPicPr preferRelativeResize="0"/>
          <p:nvPr/>
        </p:nvPicPr>
        <p:blipFill>
          <a:blip r:embed="rId4">
            <a:alphaModFix/>
          </a:blip>
          <a:stretch>
            <a:fillRect/>
          </a:stretch>
        </p:blipFill>
        <p:spPr>
          <a:xfrm>
            <a:off x="0" y="4336075"/>
            <a:ext cx="1259625" cy="807425"/>
          </a:xfrm>
          <a:prstGeom prst="rect">
            <a:avLst/>
          </a:prstGeom>
          <a:noFill/>
          <a:ln>
            <a:noFill/>
          </a:ln>
        </p:spPr>
      </p:pic>
      <p:pic>
        <p:nvPicPr>
          <p:cNvPr id="234" name="Google Shape;234;p29" title="52_logo.png"/>
          <p:cNvPicPr preferRelativeResize="0"/>
          <p:nvPr/>
        </p:nvPicPr>
        <p:blipFill>
          <a:blip r:embed="rId5">
            <a:alphaModFix/>
          </a:blip>
          <a:stretch>
            <a:fillRect/>
          </a:stretch>
        </p:blipFill>
        <p:spPr>
          <a:xfrm>
            <a:off x="8320950" y="4471700"/>
            <a:ext cx="823050" cy="671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p30" title="Screenshot 2026-04-19 12.24.17.png"/>
          <p:cNvPicPr preferRelativeResize="0"/>
          <p:nvPr/>
        </p:nvPicPr>
        <p:blipFill>
          <a:blip r:embed="rId3">
            <a:alphaModFix/>
          </a:blip>
          <a:stretch>
            <a:fillRect/>
          </a:stretch>
        </p:blipFill>
        <p:spPr>
          <a:xfrm>
            <a:off x="1901788" y="276225"/>
            <a:ext cx="4962525" cy="45910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APT definition</a:t>
            </a:r>
            <a:endParaRPr/>
          </a:p>
        </p:txBody>
      </p:sp>
      <p:sp>
        <p:nvSpPr>
          <p:cNvPr id="245" name="Google Shape;245;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200">
                <a:solidFill>
                  <a:srgbClr val="1B1B1B"/>
                </a:solidFill>
                <a:highlight>
                  <a:srgbClr val="FFFFFF"/>
                </a:highlight>
              </a:rPr>
              <a:t>An adversary with sophisticated levels of expertise and significant resources, allowing it through the use of multiple different attack vectors (e.g., cyber, physical, and deception), to generate opportunities to achieve its objectives which are typically to establish and extend its presence - from NIST SP 800-39</a:t>
            </a:r>
            <a:endParaRPr sz="1200">
              <a:solidFill>
                <a:srgbClr val="1B1B1B"/>
              </a:solidFill>
              <a:highlight>
                <a:srgbClr val="FFFFFF"/>
              </a:highlight>
            </a:endParaRPr>
          </a:p>
          <a:p>
            <a:pPr indent="-304800" lvl="0" marL="457200" rtl="0" algn="l">
              <a:spcBef>
                <a:spcPts val="0"/>
              </a:spcBef>
              <a:spcAft>
                <a:spcPts val="0"/>
              </a:spcAft>
              <a:buClr>
                <a:srgbClr val="1B1B1B"/>
              </a:buClr>
              <a:buSzPts val="1200"/>
              <a:buChar char="-"/>
            </a:pPr>
            <a:r>
              <a:rPr lang="en" sz="1200">
                <a:solidFill>
                  <a:srgbClr val="0A0A0A"/>
                </a:solidFill>
                <a:highlight>
                  <a:srgbClr val="FFFFFF"/>
                </a:highlight>
                <a:latin typeface="Roboto"/>
                <a:ea typeface="Roboto"/>
                <a:cs typeface="Roboto"/>
                <a:sym typeface="Roboto"/>
              </a:rPr>
              <a:t>An Advanced Persistent Threat (APT) is </a:t>
            </a:r>
            <a:r>
              <a:rPr lang="en" sz="1200">
                <a:solidFill>
                  <a:srgbClr val="001D35"/>
                </a:solidFill>
                <a:latin typeface="Roboto"/>
                <a:ea typeface="Roboto"/>
                <a:cs typeface="Roboto"/>
                <a:sym typeface="Roboto"/>
              </a:rPr>
              <a:t>a sophisticated, prolonged cyberattack where intruders establish an undetected, long-term presence in a network to steal sensitive data or sabotage systems</a:t>
            </a:r>
            <a:r>
              <a:rPr lang="en" sz="1200">
                <a:solidFill>
                  <a:srgbClr val="0A0A0A"/>
                </a:solidFill>
                <a:highlight>
                  <a:srgbClr val="FFFFFF"/>
                </a:highlight>
                <a:latin typeface="Roboto"/>
                <a:ea typeface="Roboto"/>
                <a:cs typeface="Roboto"/>
                <a:sym typeface="Roboto"/>
              </a:rPr>
              <a:t>.</a:t>
            </a:r>
            <a:endParaRPr sz="1200">
              <a:solidFill>
                <a:srgbClr val="1B1B1B"/>
              </a:solidFill>
              <a:highlight>
                <a:srgbClr val="FFFFFF"/>
              </a:highlight>
            </a:endParaRPr>
          </a:p>
        </p:txBody>
      </p:sp>
      <p:pic>
        <p:nvPicPr>
          <p:cNvPr id="246" name="Google Shape;246;p31" title="logo_prime.png"/>
          <p:cNvPicPr preferRelativeResize="0"/>
          <p:nvPr/>
        </p:nvPicPr>
        <p:blipFill>
          <a:blip r:embed="rId3">
            <a:alphaModFix/>
          </a:blip>
          <a:stretch>
            <a:fillRect/>
          </a:stretch>
        </p:blipFill>
        <p:spPr>
          <a:xfrm>
            <a:off x="0" y="4336075"/>
            <a:ext cx="1259625" cy="807425"/>
          </a:xfrm>
          <a:prstGeom prst="rect">
            <a:avLst/>
          </a:prstGeom>
          <a:noFill/>
          <a:ln>
            <a:noFill/>
          </a:ln>
        </p:spPr>
      </p:pic>
      <p:pic>
        <p:nvPicPr>
          <p:cNvPr id="247" name="Google Shape;247;p31" title="52_logo.png"/>
          <p:cNvPicPr preferRelativeResize="0"/>
          <p:nvPr/>
        </p:nvPicPr>
        <p:blipFill>
          <a:blip r:embed="rId4">
            <a:alphaModFix/>
          </a:blip>
          <a:stretch>
            <a:fillRect/>
          </a:stretch>
        </p:blipFill>
        <p:spPr>
          <a:xfrm>
            <a:off x="8320950" y="4471700"/>
            <a:ext cx="823050" cy="671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APT to consider</a:t>
            </a:r>
            <a:endParaRPr/>
          </a:p>
        </p:txBody>
      </p:sp>
      <p:sp>
        <p:nvSpPr>
          <p:cNvPr id="253" name="Google Shape;253;p32"/>
          <p:cNvSpPr/>
          <p:nvPr/>
        </p:nvSpPr>
        <p:spPr>
          <a:xfrm>
            <a:off x="5372962" y="1547337"/>
            <a:ext cx="2827800" cy="300300"/>
          </a:xfrm>
          <a:prstGeom prst="rect">
            <a:avLst/>
          </a:prstGeom>
          <a:solidFill>
            <a:srgbClr val="0C57D3"/>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FFFFFF"/>
                </a:solidFill>
                <a:latin typeface="Roboto"/>
                <a:ea typeface="Roboto"/>
                <a:cs typeface="Roboto"/>
                <a:sym typeface="Roboto"/>
              </a:rPr>
              <a:t>Motives</a:t>
            </a:r>
            <a:r>
              <a:rPr lang="en" sz="800">
                <a:solidFill>
                  <a:srgbClr val="FFFFFF"/>
                </a:solidFill>
                <a:latin typeface="Roboto"/>
                <a:ea typeface="Roboto"/>
                <a:cs typeface="Roboto"/>
                <a:sym typeface="Roboto"/>
              </a:rPr>
              <a:t> </a:t>
            </a:r>
            <a:endParaRPr sz="800">
              <a:solidFill>
                <a:srgbClr val="FFFFFF"/>
              </a:solidFill>
              <a:latin typeface="Roboto"/>
              <a:ea typeface="Roboto"/>
              <a:cs typeface="Roboto"/>
              <a:sym typeface="Roboto"/>
            </a:endParaRPr>
          </a:p>
        </p:txBody>
      </p:sp>
      <p:sp>
        <p:nvSpPr>
          <p:cNvPr id="254" name="Google Shape;254;p32"/>
          <p:cNvSpPr/>
          <p:nvPr/>
        </p:nvSpPr>
        <p:spPr>
          <a:xfrm>
            <a:off x="943238" y="1547337"/>
            <a:ext cx="2380800" cy="300300"/>
          </a:xfrm>
          <a:prstGeom prst="rect">
            <a:avLst/>
          </a:prstGeom>
          <a:solidFill>
            <a:srgbClr val="0C57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Potential groups types</a:t>
            </a:r>
            <a:endParaRPr>
              <a:solidFill>
                <a:schemeClr val="lt1"/>
              </a:solidFill>
            </a:endParaRPr>
          </a:p>
        </p:txBody>
      </p:sp>
      <p:grpSp>
        <p:nvGrpSpPr>
          <p:cNvPr id="255" name="Google Shape;255;p32"/>
          <p:cNvGrpSpPr/>
          <p:nvPr/>
        </p:nvGrpSpPr>
        <p:grpSpPr>
          <a:xfrm>
            <a:off x="943261" y="2683675"/>
            <a:ext cx="7257489" cy="801450"/>
            <a:chOff x="943723" y="3783775"/>
            <a:chExt cx="7257489" cy="801450"/>
          </a:xfrm>
        </p:grpSpPr>
        <p:sp>
          <p:nvSpPr>
            <p:cNvPr id="256" name="Google Shape;256;p32"/>
            <p:cNvSpPr/>
            <p:nvPr/>
          </p:nvSpPr>
          <p:spPr>
            <a:xfrm>
              <a:off x="5373413" y="3885325"/>
              <a:ext cx="2827800" cy="699900"/>
            </a:xfrm>
            <a:prstGeom prst="rect">
              <a:avLst/>
            </a:prstGeom>
            <a:solidFill>
              <a:srgbClr val="0C57D3"/>
            </a:solidFill>
            <a:ln>
              <a:noFill/>
            </a:ln>
          </p:spPr>
          <p:txBody>
            <a:bodyPr anchorCtr="0" anchor="t" bIns="91425" lIns="91425" spcFirstLastPara="1" rIns="91425" wrap="square" tIns="91425">
              <a:noAutofit/>
            </a:bodyPr>
            <a:lstStyle/>
            <a:p>
              <a:pPr indent="-279400" lvl="0" marL="457200" rtl="0" algn="l">
                <a:lnSpc>
                  <a:spcPct val="115000"/>
                </a:lnSpc>
                <a:spcBef>
                  <a:spcPts val="0"/>
                </a:spcBef>
                <a:spcAft>
                  <a:spcPts val="0"/>
                </a:spcAft>
                <a:buClr>
                  <a:srgbClr val="FFFFFF"/>
                </a:buClr>
                <a:buSzPts val="800"/>
                <a:buFont typeface="Roboto"/>
                <a:buChar char="●"/>
              </a:pPr>
              <a:r>
                <a:rPr lang="en" sz="800">
                  <a:solidFill>
                    <a:srgbClr val="FFFFFF"/>
                  </a:solidFill>
                  <a:latin typeface="Roboto"/>
                  <a:ea typeface="Roboto"/>
                  <a:cs typeface="Roboto"/>
                  <a:sym typeface="Roboto"/>
                </a:rPr>
                <a:t>Weaken public perception of military</a:t>
              </a:r>
              <a:endParaRPr sz="800">
                <a:solidFill>
                  <a:srgbClr val="FFFFFF"/>
                </a:solidFill>
                <a:latin typeface="Roboto"/>
                <a:ea typeface="Roboto"/>
                <a:cs typeface="Roboto"/>
                <a:sym typeface="Roboto"/>
              </a:endParaRPr>
            </a:p>
            <a:p>
              <a:pPr indent="-279400" lvl="0" marL="457200" rtl="0" algn="l">
                <a:lnSpc>
                  <a:spcPct val="115000"/>
                </a:lnSpc>
                <a:spcBef>
                  <a:spcPts val="0"/>
                </a:spcBef>
                <a:spcAft>
                  <a:spcPts val="0"/>
                </a:spcAft>
                <a:buClr>
                  <a:srgbClr val="FFFFFF"/>
                </a:buClr>
                <a:buSzPts val="800"/>
                <a:buFont typeface="Roboto"/>
                <a:buChar char="●"/>
              </a:pPr>
              <a:r>
                <a:rPr lang="en" sz="800">
                  <a:solidFill>
                    <a:srgbClr val="FFFFFF"/>
                  </a:solidFill>
                  <a:latin typeface="Roboto"/>
                  <a:ea typeface="Roboto"/>
                  <a:cs typeface="Roboto"/>
                  <a:sym typeface="Roboto"/>
                </a:rPr>
                <a:t>Reduce the amount of new recruits</a:t>
              </a:r>
              <a:endParaRPr sz="800">
                <a:solidFill>
                  <a:srgbClr val="FFFFFF"/>
                </a:solidFill>
                <a:latin typeface="Roboto"/>
                <a:ea typeface="Roboto"/>
                <a:cs typeface="Roboto"/>
                <a:sym typeface="Roboto"/>
              </a:endParaRPr>
            </a:p>
            <a:p>
              <a:pPr indent="-279400" lvl="0" marL="457200" rtl="0" algn="l">
                <a:lnSpc>
                  <a:spcPct val="115000"/>
                </a:lnSpc>
                <a:spcBef>
                  <a:spcPts val="0"/>
                </a:spcBef>
                <a:spcAft>
                  <a:spcPts val="0"/>
                </a:spcAft>
                <a:buClr>
                  <a:srgbClr val="FFFFFF"/>
                </a:buClr>
                <a:buSzPts val="800"/>
                <a:buFont typeface="Roboto"/>
                <a:buChar char="●"/>
              </a:pPr>
              <a:r>
                <a:rPr lang="en" sz="800">
                  <a:solidFill>
                    <a:srgbClr val="FFFFFF"/>
                  </a:solidFill>
                  <a:latin typeface="Roboto"/>
                  <a:ea typeface="Roboto"/>
                  <a:cs typeface="Roboto"/>
                  <a:sym typeface="Roboto"/>
                </a:rPr>
                <a:t>Undetectable foothold (positioning decision makers, access to other Organizations, etc.)</a:t>
              </a:r>
              <a:endParaRPr sz="800">
                <a:solidFill>
                  <a:srgbClr val="FFFFFF"/>
                </a:solidFill>
                <a:latin typeface="Roboto"/>
                <a:ea typeface="Roboto"/>
                <a:cs typeface="Roboto"/>
                <a:sym typeface="Roboto"/>
              </a:endParaRPr>
            </a:p>
          </p:txBody>
        </p:sp>
        <p:sp>
          <p:nvSpPr>
            <p:cNvPr id="257" name="Google Shape;257;p32"/>
            <p:cNvSpPr/>
            <p:nvPr/>
          </p:nvSpPr>
          <p:spPr>
            <a:xfrm>
              <a:off x="943723" y="3783775"/>
              <a:ext cx="2379900" cy="674400"/>
            </a:xfrm>
            <a:prstGeom prst="rect">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2"/>
            <p:cNvSpPr/>
            <p:nvPr/>
          </p:nvSpPr>
          <p:spPr>
            <a:xfrm>
              <a:off x="1632122" y="3783788"/>
              <a:ext cx="674400" cy="674400"/>
            </a:xfrm>
            <a:prstGeom prst="rtTriangle">
              <a:avLst/>
            </a:prstGeom>
            <a:solidFill>
              <a:srgbClr val="0E6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2"/>
            <p:cNvSpPr/>
            <p:nvPr/>
          </p:nvSpPr>
          <p:spPr>
            <a:xfrm>
              <a:off x="943723" y="3783788"/>
              <a:ext cx="687600" cy="674400"/>
            </a:xfrm>
            <a:prstGeom prst="rtTriangle">
              <a:avLst/>
            </a:prstGeom>
            <a:solidFill>
              <a:srgbClr val="307A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2"/>
            <p:cNvSpPr/>
            <p:nvPr/>
          </p:nvSpPr>
          <p:spPr>
            <a:xfrm>
              <a:off x="1210848" y="3783832"/>
              <a:ext cx="425700" cy="409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600">
                  <a:solidFill>
                    <a:srgbClr val="FFFFFF"/>
                  </a:solidFill>
                  <a:latin typeface="Roboto"/>
                  <a:ea typeface="Roboto"/>
                  <a:cs typeface="Roboto"/>
                  <a:sym typeface="Roboto"/>
                </a:rPr>
                <a:t>2</a:t>
              </a:r>
              <a:endParaRPr sz="1600">
                <a:solidFill>
                  <a:srgbClr val="FFFFFF"/>
                </a:solidFill>
                <a:latin typeface="Roboto"/>
                <a:ea typeface="Roboto"/>
                <a:cs typeface="Roboto"/>
                <a:sym typeface="Roboto"/>
              </a:endParaRPr>
            </a:p>
          </p:txBody>
        </p:sp>
        <p:sp>
          <p:nvSpPr>
            <p:cNvPr id="261" name="Google Shape;261;p32"/>
            <p:cNvSpPr/>
            <p:nvPr/>
          </p:nvSpPr>
          <p:spPr>
            <a:xfrm rot="-2700000">
              <a:off x="4705031" y="4021667"/>
              <a:ext cx="305894" cy="116673"/>
            </a:xfrm>
            <a:prstGeom prst="corner">
              <a:avLst>
                <a:gd fmla="val 18804" name="adj1"/>
                <a:gd fmla="val 18145" name="adj2"/>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2"/>
            <p:cNvSpPr/>
            <p:nvPr/>
          </p:nvSpPr>
          <p:spPr>
            <a:xfrm>
              <a:off x="1704725" y="3783825"/>
              <a:ext cx="1488600" cy="67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FFFFFF"/>
                  </a:solidFill>
                  <a:latin typeface="Roboto"/>
                  <a:ea typeface="Roboto"/>
                  <a:cs typeface="Roboto"/>
                  <a:sym typeface="Roboto"/>
                </a:rPr>
                <a:t>Nation-state sponsored APT</a:t>
              </a:r>
              <a:endParaRPr sz="1000">
                <a:solidFill>
                  <a:srgbClr val="FFFFFF"/>
                </a:solidFill>
                <a:latin typeface="Roboto"/>
                <a:ea typeface="Roboto"/>
                <a:cs typeface="Roboto"/>
                <a:sym typeface="Roboto"/>
              </a:endParaRPr>
            </a:p>
          </p:txBody>
        </p:sp>
      </p:grpSp>
      <p:grpSp>
        <p:nvGrpSpPr>
          <p:cNvPr id="263" name="Google Shape;263;p32"/>
          <p:cNvGrpSpPr/>
          <p:nvPr/>
        </p:nvGrpSpPr>
        <p:grpSpPr>
          <a:xfrm>
            <a:off x="943261" y="3396950"/>
            <a:ext cx="7257489" cy="1074725"/>
            <a:chOff x="943723" y="4469050"/>
            <a:chExt cx="7257489" cy="1074725"/>
          </a:xfrm>
        </p:grpSpPr>
        <p:sp>
          <p:nvSpPr>
            <p:cNvPr id="264" name="Google Shape;264;p32"/>
            <p:cNvSpPr/>
            <p:nvPr/>
          </p:nvSpPr>
          <p:spPr>
            <a:xfrm>
              <a:off x="5373413" y="4615875"/>
              <a:ext cx="2827800" cy="927900"/>
            </a:xfrm>
            <a:prstGeom prst="rect">
              <a:avLst/>
            </a:prstGeom>
            <a:solidFill>
              <a:srgbClr val="0C57D3"/>
            </a:solidFill>
            <a:ln>
              <a:noFill/>
            </a:ln>
          </p:spPr>
          <p:txBody>
            <a:bodyPr anchorCtr="0" anchor="t" bIns="91425" lIns="91425" spcFirstLastPara="1" rIns="91425" wrap="square" tIns="91425">
              <a:noAutofit/>
            </a:bodyPr>
            <a:lstStyle/>
            <a:p>
              <a:pPr indent="-279400" lvl="0" marL="457200" rtl="0" algn="l">
                <a:lnSpc>
                  <a:spcPct val="115000"/>
                </a:lnSpc>
                <a:spcBef>
                  <a:spcPts val="0"/>
                </a:spcBef>
                <a:spcAft>
                  <a:spcPts val="0"/>
                </a:spcAft>
                <a:buClr>
                  <a:srgbClr val="FFFFFF"/>
                </a:buClr>
                <a:buSzPts val="800"/>
                <a:buFont typeface="Roboto"/>
                <a:buChar char="●"/>
              </a:pPr>
              <a:r>
                <a:rPr lang="en" sz="800">
                  <a:solidFill>
                    <a:srgbClr val="FFFFFF"/>
                  </a:solidFill>
                  <a:latin typeface="Roboto"/>
                  <a:ea typeface="Roboto"/>
                  <a:cs typeface="Roboto"/>
                  <a:sym typeface="Roboto"/>
                </a:rPr>
                <a:t>To </a:t>
              </a:r>
              <a:r>
                <a:rPr lang="en" sz="800">
                  <a:solidFill>
                    <a:srgbClr val="FFFFFF"/>
                  </a:solidFill>
                  <a:latin typeface="Roboto"/>
                  <a:ea typeface="Roboto"/>
                  <a:cs typeface="Roboto"/>
                  <a:sym typeface="Roboto"/>
                </a:rPr>
                <a:t>privatized</a:t>
              </a:r>
              <a:r>
                <a:rPr lang="en" sz="800">
                  <a:solidFill>
                    <a:srgbClr val="FFFFFF"/>
                  </a:solidFill>
                  <a:latin typeface="Roboto"/>
                  <a:ea typeface="Roboto"/>
                  <a:cs typeface="Roboto"/>
                  <a:sym typeface="Roboto"/>
                </a:rPr>
                <a:t> specific program/services.</a:t>
              </a:r>
              <a:endParaRPr sz="800">
                <a:solidFill>
                  <a:srgbClr val="FFFFFF"/>
                </a:solidFill>
                <a:latin typeface="Roboto"/>
                <a:ea typeface="Roboto"/>
                <a:cs typeface="Roboto"/>
                <a:sym typeface="Roboto"/>
              </a:endParaRPr>
            </a:p>
            <a:p>
              <a:pPr indent="-279400" lvl="0" marL="457200" rtl="0" algn="l">
                <a:lnSpc>
                  <a:spcPct val="115000"/>
                </a:lnSpc>
                <a:spcBef>
                  <a:spcPts val="0"/>
                </a:spcBef>
                <a:spcAft>
                  <a:spcPts val="0"/>
                </a:spcAft>
                <a:buClr>
                  <a:srgbClr val="FFFFFF"/>
                </a:buClr>
                <a:buSzPts val="800"/>
                <a:buFont typeface="Roboto"/>
                <a:buChar char="●"/>
              </a:pPr>
              <a:r>
                <a:rPr lang="en" sz="800">
                  <a:solidFill>
                    <a:srgbClr val="FFFFFF"/>
                  </a:solidFill>
                  <a:latin typeface="Roboto"/>
                  <a:ea typeface="Roboto"/>
                  <a:cs typeface="Roboto"/>
                  <a:sym typeface="Roboto"/>
                </a:rPr>
                <a:t>Reduce patients/customer.</a:t>
              </a:r>
              <a:endParaRPr sz="800">
                <a:solidFill>
                  <a:srgbClr val="FFFFFF"/>
                </a:solidFill>
                <a:latin typeface="Roboto"/>
                <a:ea typeface="Roboto"/>
                <a:cs typeface="Roboto"/>
                <a:sym typeface="Roboto"/>
              </a:endParaRPr>
            </a:p>
            <a:p>
              <a:pPr indent="-279400" lvl="0" marL="457200" rtl="0" algn="l">
                <a:lnSpc>
                  <a:spcPct val="115000"/>
                </a:lnSpc>
                <a:spcBef>
                  <a:spcPts val="0"/>
                </a:spcBef>
                <a:spcAft>
                  <a:spcPts val="0"/>
                </a:spcAft>
                <a:buClr>
                  <a:srgbClr val="FFFFFF"/>
                </a:buClr>
                <a:buSzPts val="800"/>
                <a:buFont typeface="Roboto"/>
                <a:buChar char="●"/>
              </a:pPr>
              <a:r>
                <a:rPr lang="en" sz="800">
                  <a:solidFill>
                    <a:srgbClr val="FFFFFF"/>
                  </a:solidFill>
                  <a:latin typeface="Roboto"/>
                  <a:ea typeface="Roboto"/>
                  <a:cs typeface="Roboto"/>
                  <a:sym typeface="Roboto"/>
                </a:rPr>
                <a:t>Weaken public trust in </a:t>
              </a:r>
              <a:r>
                <a:rPr lang="en" sz="800">
                  <a:solidFill>
                    <a:srgbClr val="FFFFFF"/>
                  </a:solidFill>
                  <a:latin typeface="Roboto"/>
                  <a:ea typeface="Roboto"/>
                  <a:cs typeface="Roboto"/>
                  <a:sym typeface="Roboto"/>
                </a:rPr>
                <a:t>quality</a:t>
              </a:r>
              <a:r>
                <a:rPr lang="en" sz="800">
                  <a:solidFill>
                    <a:srgbClr val="FFFFFF"/>
                  </a:solidFill>
                  <a:latin typeface="Roboto"/>
                  <a:ea typeface="Roboto"/>
                  <a:cs typeface="Roboto"/>
                  <a:sym typeface="Roboto"/>
                </a:rPr>
                <a:t> of service. </a:t>
              </a:r>
              <a:endParaRPr sz="800">
                <a:solidFill>
                  <a:srgbClr val="FFFFFF"/>
                </a:solidFill>
                <a:latin typeface="Roboto"/>
                <a:ea typeface="Roboto"/>
                <a:cs typeface="Roboto"/>
                <a:sym typeface="Roboto"/>
              </a:endParaRPr>
            </a:p>
            <a:p>
              <a:pPr indent="-279400" lvl="0" marL="457200" rtl="0" algn="l">
                <a:lnSpc>
                  <a:spcPct val="115000"/>
                </a:lnSpc>
                <a:spcBef>
                  <a:spcPts val="0"/>
                </a:spcBef>
                <a:spcAft>
                  <a:spcPts val="0"/>
                </a:spcAft>
                <a:buClr>
                  <a:srgbClr val="FFFFFF"/>
                </a:buClr>
                <a:buSzPts val="800"/>
                <a:buFont typeface="Roboto"/>
                <a:buChar char="●"/>
              </a:pPr>
              <a:r>
                <a:rPr lang="en" sz="800">
                  <a:solidFill>
                    <a:srgbClr val="FFFFFF"/>
                  </a:solidFill>
                  <a:latin typeface="Roboto"/>
                  <a:ea typeface="Roboto"/>
                  <a:cs typeface="Roboto"/>
                  <a:sym typeface="Roboto"/>
                </a:rPr>
                <a:t>gain/siphon research data through partnership.(skewing data and misleading research) </a:t>
              </a:r>
              <a:endParaRPr sz="800">
                <a:solidFill>
                  <a:srgbClr val="FFFFFF"/>
                </a:solidFill>
                <a:latin typeface="Roboto"/>
                <a:ea typeface="Roboto"/>
                <a:cs typeface="Roboto"/>
                <a:sym typeface="Roboto"/>
              </a:endParaRPr>
            </a:p>
          </p:txBody>
        </p:sp>
        <p:sp>
          <p:nvSpPr>
            <p:cNvPr id="265" name="Google Shape;265;p32"/>
            <p:cNvSpPr/>
            <p:nvPr/>
          </p:nvSpPr>
          <p:spPr>
            <a:xfrm>
              <a:off x="943723" y="4469050"/>
              <a:ext cx="2379900" cy="674400"/>
            </a:xfrm>
            <a:prstGeom prst="rect">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2"/>
            <p:cNvSpPr/>
            <p:nvPr/>
          </p:nvSpPr>
          <p:spPr>
            <a:xfrm>
              <a:off x="1632122" y="4469063"/>
              <a:ext cx="674400" cy="674400"/>
            </a:xfrm>
            <a:prstGeom prst="rtTriangle">
              <a:avLst/>
            </a:prstGeom>
            <a:solidFill>
              <a:srgbClr val="0E6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2"/>
            <p:cNvSpPr/>
            <p:nvPr/>
          </p:nvSpPr>
          <p:spPr>
            <a:xfrm>
              <a:off x="943723" y="4469063"/>
              <a:ext cx="687600" cy="674400"/>
            </a:xfrm>
            <a:prstGeom prst="rtTriangle">
              <a:avLst/>
            </a:prstGeom>
            <a:solidFill>
              <a:srgbClr val="307A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2"/>
            <p:cNvSpPr/>
            <p:nvPr/>
          </p:nvSpPr>
          <p:spPr>
            <a:xfrm>
              <a:off x="1210848" y="4469107"/>
              <a:ext cx="425700" cy="409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600">
                  <a:solidFill>
                    <a:srgbClr val="FFFFFF"/>
                  </a:solidFill>
                  <a:latin typeface="Roboto"/>
                  <a:ea typeface="Roboto"/>
                  <a:cs typeface="Roboto"/>
                  <a:sym typeface="Roboto"/>
                </a:rPr>
                <a:t>3</a:t>
              </a:r>
              <a:endParaRPr sz="1600">
                <a:solidFill>
                  <a:srgbClr val="FFFFFF"/>
                </a:solidFill>
                <a:latin typeface="Roboto"/>
                <a:ea typeface="Roboto"/>
                <a:cs typeface="Roboto"/>
                <a:sym typeface="Roboto"/>
              </a:endParaRPr>
            </a:p>
          </p:txBody>
        </p:sp>
        <p:sp>
          <p:nvSpPr>
            <p:cNvPr id="269" name="Google Shape;269;p32"/>
            <p:cNvSpPr/>
            <p:nvPr/>
          </p:nvSpPr>
          <p:spPr>
            <a:xfrm rot="-2700000">
              <a:off x="4705031" y="4706942"/>
              <a:ext cx="305894" cy="116673"/>
            </a:xfrm>
            <a:prstGeom prst="corner">
              <a:avLst>
                <a:gd fmla="val 18804" name="adj1"/>
                <a:gd fmla="val 18145" name="adj2"/>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2"/>
            <p:cNvSpPr/>
            <p:nvPr/>
          </p:nvSpPr>
          <p:spPr>
            <a:xfrm>
              <a:off x="3633813" y="4601063"/>
              <a:ext cx="410400" cy="410400"/>
            </a:xfrm>
            <a:prstGeom prst="mathMultiply">
              <a:avLst>
                <a:gd fmla="val 5080"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2"/>
            <p:cNvSpPr/>
            <p:nvPr/>
          </p:nvSpPr>
          <p:spPr>
            <a:xfrm>
              <a:off x="1704725" y="4469100"/>
              <a:ext cx="1488600" cy="67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FFFFFF"/>
                  </a:solidFill>
                  <a:latin typeface="Roboto"/>
                  <a:ea typeface="Roboto"/>
                  <a:cs typeface="Roboto"/>
                  <a:sym typeface="Roboto"/>
                </a:rPr>
                <a:t>Corporate-sponsored APT</a:t>
              </a:r>
              <a:endParaRPr sz="1000">
                <a:solidFill>
                  <a:srgbClr val="FFFFFF"/>
                </a:solidFill>
                <a:latin typeface="Roboto"/>
                <a:ea typeface="Roboto"/>
                <a:cs typeface="Roboto"/>
                <a:sym typeface="Roboto"/>
              </a:endParaRPr>
            </a:p>
          </p:txBody>
        </p:sp>
      </p:grpSp>
      <p:grpSp>
        <p:nvGrpSpPr>
          <p:cNvPr id="272" name="Google Shape;272;p32"/>
          <p:cNvGrpSpPr/>
          <p:nvPr/>
        </p:nvGrpSpPr>
        <p:grpSpPr>
          <a:xfrm>
            <a:off x="943261" y="1928422"/>
            <a:ext cx="7257489" cy="807300"/>
            <a:chOff x="943723" y="3098498"/>
            <a:chExt cx="7257489" cy="807300"/>
          </a:xfrm>
        </p:grpSpPr>
        <p:sp>
          <p:nvSpPr>
            <p:cNvPr id="273" name="Google Shape;273;p32"/>
            <p:cNvSpPr/>
            <p:nvPr/>
          </p:nvSpPr>
          <p:spPr>
            <a:xfrm>
              <a:off x="5373413" y="3098498"/>
              <a:ext cx="2827800" cy="807300"/>
            </a:xfrm>
            <a:prstGeom prst="rect">
              <a:avLst/>
            </a:prstGeom>
            <a:solidFill>
              <a:srgbClr val="0C57D3"/>
            </a:solidFill>
            <a:ln>
              <a:noFill/>
            </a:ln>
          </p:spPr>
          <p:txBody>
            <a:bodyPr anchorCtr="0" anchor="t" bIns="91425" lIns="91425" spcFirstLastPara="1" rIns="91425" wrap="square" tIns="91425">
              <a:noAutofit/>
            </a:bodyPr>
            <a:lstStyle/>
            <a:p>
              <a:pPr indent="-279400" lvl="0" marL="457200" rtl="0" algn="l">
                <a:lnSpc>
                  <a:spcPct val="115000"/>
                </a:lnSpc>
                <a:spcBef>
                  <a:spcPts val="0"/>
                </a:spcBef>
                <a:spcAft>
                  <a:spcPts val="0"/>
                </a:spcAft>
                <a:buClr>
                  <a:srgbClr val="FFFFFF"/>
                </a:buClr>
                <a:buSzPts val="800"/>
                <a:buFont typeface="Roboto"/>
                <a:buChar char="●"/>
              </a:pPr>
              <a:r>
                <a:rPr lang="en" sz="800">
                  <a:solidFill>
                    <a:srgbClr val="FFFFFF"/>
                  </a:solidFill>
                  <a:latin typeface="Roboto"/>
                  <a:ea typeface="Roboto"/>
                  <a:cs typeface="Roboto"/>
                  <a:sym typeface="Roboto"/>
                </a:rPr>
                <a:t>Unquestionable revenue source</a:t>
              </a:r>
              <a:endParaRPr sz="800">
                <a:solidFill>
                  <a:srgbClr val="FFFFFF"/>
                </a:solidFill>
                <a:latin typeface="Roboto"/>
                <a:ea typeface="Roboto"/>
                <a:cs typeface="Roboto"/>
                <a:sym typeface="Roboto"/>
              </a:endParaRPr>
            </a:p>
            <a:p>
              <a:pPr indent="-279400" lvl="0" marL="457200" rtl="0" algn="l">
                <a:lnSpc>
                  <a:spcPct val="115000"/>
                </a:lnSpc>
                <a:spcBef>
                  <a:spcPts val="0"/>
                </a:spcBef>
                <a:spcAft>
                  <a:spcPts val="0"/>
                </a:spcAft>
                <a:buClr>
                  <a:srgbClr val="FFFFFF"/>
                </a:buClr>
                <a:buSzPts val="800"/>
                <a:buFont typeface="Roboto"/>
                <a:buChar char="●"/>
              </a:pPr>
              <a:r>
                <a:rPr lang="en" sz="800">
                  <a:solidFill>
                    <a:srgbClr val="FFFFFF"/>
                  </a:solidFill>
                  <a:latin typeface="Roboto"/>
                  <a:ea typeface="Roboto"/>
                  <a:cs typeface="Roboto"/>
                  <a:sym typeface="Roboto"/>
                </a:rPr>
                <a:t>Consistent/reliable revenue source</a:t>
              </a:r>
              <a:endParaRPr sz="800">
                <a:solidFill>
                  <a:srgbClr val="FFFFFF"/>
                </a:solidFill>
                <a:latin typeface="Roboto"/>
                <a:ea typeface="Roboto"/>
                <a:cs typeface="Roboto"/>
                <a:sym typeface="Roboto"/>
              </a:endParaRPr>
            </a:p>
            <a:p>
              <a:pPr indent="-279400" lvl="0" marL="457200" rtl="0" algn="l">
                <a:lnSpc>
                  <a:spcPct val="115000"/>
                </a:lnSpc>
                <a:spcBef>
                  <a:spcPts val="0"/>
                </a:spcBef>
                <a:spcAft>
                  <a:spcPts val="0"/>
                </a:spcAft>
                <a:buClr>
                  <a:srgbClr val="FFFFFF"/>
                </a:buClr>
                <a:buSzPts val="800"/>
                <a:buFont typeface="Roboto"/>
                <a:buChar char="●"/>
              </a:pPr>
              <a:r>
                <a:rPr lang="en" sz="800">
                  <a:solidFill>
                    <a:srgbClr val="FFFFFF"/>
                  </a:solidFill>
                  <a:latin typeface="Roboto"/>
                  <a:ea typeface="Roboto"/>
                  <a:cs typeface="Roboto"/>
                  <a:sym typeface="Roboto"/>
                </a:rPr>
                <a:t>The amount of potential revenue (100% = over $50,000 for one single veteran; (1 VA program = mutl- million dollars)</a:t>
              </a:r>
              <a:endParaRPr sz="800">
                <a:solidFill>
                  <a:srgbClr val="FFFFFF"/>
                </a:solidFill>
                <a:latin typeface="Roboto"/>
                <a:ea typeface="Roboto"/>
                <a:cs typeface="Roboto"/>
                <a:sym typeface="Roboto"/>
              </a:endParaRPr>
            </a:p>
          </p:txBody>
        </p:sp>
        <p:sp>
          <p:nvSpPr>
            <p:cNvPr id="274" name="Google Shape;274;p32"/>
            <p:cNvSpPr/>
            <p:nvPr/>
          </p:nvSpPr>
          <p:spPr>
            <a:xfrm>
              <a:off x="943723" y="3098500"/>
              <a:ext cx="2379900" cy="674400"/>
            </a:xfrm>
            <a:prstGeom prst="rect">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2"/>
            <p:cNvSpPr/>
            <p:nvPr/>
          </p:nvSpPr>
          <p:spPr>
            <a:xfrm>
              <a:off x="1632122" y="3098513"/>
              <a:ext cx="674400" cy="674400"/>
            </a:xfrm>
            <a:prstGeom prst="rtTriangle">
              <a:avLst/>
            </a:prstGeom>
            <a:solidFill>
              <a:srgbClr val="0E6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2"/>
            <p:cNvSpPr/>
            <p:nvPr/>
          </p:nvSpPr>
          <p:spPr>
            <a:xfrm>
              <a:off x="943723" y="3098513"/>
              <a:ext cx="687600" cy="674400"/>
            </a:xfrm>
            <a:prstGeom prst="rtTriangle">
              <a:avLst/>
            </a:prstGeom>
            <a:solidFill>
              <a:srgbClr val="307A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2"/>
            <p:cNvSpPr/>
            <p:nvPr/>
          </p:nvSpPr>
          <p:spPr>
            <a:xfrm>
              <a:off x="1210848" y="3098557"/>
              <a:ext cx="425700" cy="409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600">
                  <a:solidFill>
                    <a:srgbClr val="FFFFFF"/>
                  </a:solidFill>
                  <a:latin typeface="Roboto"/>
                  <a:ea typeface="Roboto"/>
                  <a:cs typeface="Roboto"/>
                  <a:sym typeface="Roboto"/>
                </a:rPr>
                <a:t>1</a:t>
              </a:r>
              <a:endParaRPr sz="1600">
                <a:solidFill>
                  <a:srgbClr val="FFFFFF"/>
                </a:solidFill>
                <a:latin typeface="Roboto"/>
                <a:ea typeface="Roboto"/>
                <a:cs typeface="Roboto"/>
                <a:sym typeface="Roboto"/>
              </a:endParaRPr>
            </a:p>
          </p:txBody>
        </p:sp>
        <p:sp>
          <p:nvSpPr>
            <p:cNvPr id="278" name="Google Shape;278;p32"/>
            <p:cNvSpPr/>
            <p:nvPr/>
          </p:nvSpPr>
          <p:spPr>
            <a:xfrm rot="-2700000">
              <a:off x="4705031" y="3336392"/>
              <a:ext cx="305894" cy="116673"/>
            </a:xfrm>
            <a:prstGeom prst="corner">
              <a:avLst>
                <a:gd fmla="val 18804" name="adj1"/>
                <a:gd fmla="val 18145" name="adj2"/>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2"/>
            <p:cNvSpPr/>
            <p:nvPr/>
          </p:nvSpPr>
          <p:spPr>
            <a:xfrm>
              <a:off x="3633813" y="3230513"/>
              <a:ext cx="410400" cy="410400"/>
            </a:xfrm>
            <a:prstGeom prst="mathMultiply">
              <a:avLst>
                <a:gd fmla="val 5080"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2"/>
            <p:cNvSpPr/>
            <p:nvPr/>
          </p:nvSpPr>
          <p:spPr>
            <a:xfrm>
              <a:off x="1704725" y="3098550"/>
              <a:ext cx="1488600" cy="67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FFFFFF"/>
                  </a:solidFill>
                  <a:latin typeface="Roboto"/>
                  <a:ea typeface="Roboto"/>
                  <a:cs typeface="Roboto"/>
                  <a:sym typeface="Roboto"/>
                </a:rPr>
                <a:t>Financially Motivated APT</a:t>
              </a:r>
              <a:endParaRPr sz="1000">
                <a:solidFill>
                  <a:srgbClr val="FFFFFF"/>
                </a:solidFill>
                <a:latin typeface="Roboto"/>
                <a:ea typeface="Roboto"/>
                <a:cs typeface="Roboto"/>
                <a:sym typeface="Roboto"/>
              </a:endParaRPr>
            </a:p>
          </p:txBody>
        </p:sp>
      </p:grpSp>
      <p:pic>
        <p:nvPicPr>
          <p:cNvPr id="281" name="Google Shape;281;p32" title="logo_prime.png"/>
          <p:cNvPicPr preferRelativeResize="0"/>
          <p:nvPr/>
        </p:nvPicPr>
        <p:blipFill>
          <a:blip r:embed="rId3">
            <a:alphaModFix/>
          </a:blip>
          <a:stretch>
            <a:fillRect/>
          </a:stretch>
        </p:blipFill>
        <p:spPr>
          <a:xfrm>
            <a:off x="0" y="4336075"/>
            <a:ext cx="1259625" cy="807425"/>
          </a:xfrm>
          <a:prstGeom prst="rect">
            <a:avLst/>
          </a:prstGeom>
          <a:noFill/>
          <a:ln>
            <a:noFill/>
          </a:ln>
        </p:spPr>
      </p:pic>
      <p:sp>
        <p:nvSpPr>
          <p:cNvPr id="282" name="Google Shape;282;p32"/>
          <p:cNvSpPr txBox="1"/>
          <p:nvPr/>
        </p:nvSpPr>
        <p:spPr>
          <a:xfrm>
            <a:off x="1902075" y="4389825"/>
            <a:ext cx="3414900" cy="699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Notable mention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279400" lvl="0" marL="457200" rtl="0" algn="l">
              <a:spcBef>
                <a:spcPts val="0"/>
              </a:spcBef>
              <a:spcAft>
                <a:spcPts val="0"/>
              </a:spcAft>
              <a:buClr>
                <a:schemeClr val="dk2"/>
              </a:buClr>
              <a:buSzPts val="800"/>
              <a:buChar char="-"/>
            </a:pPr>
            <a:r>
              <a:rPr lang="en" sz="800">
                <a:solidFill>
                  <a:schemeClr val="dk2"/>
                </a:solidFill>
              </a:rPr>
              <a:t>Local groups/communties(goonies)</a:t>
            </a:r>
            <a:endParaRPr sz="800">
              <a:solidFill>
                <a:schemeClr val="dk2"/>
              </a:solidFill>
            </a:endParaRPr>
          </a:p>
          <a:p>
            <a:pPr indent="-279400" lvl="0" marL="457200" rtl="0" algn="l">
              <a:spcBef>
                <a:spcPts val="0"/>
              </a:spcBef>
              <a:spcAft>
                <a:spcPts val="0"/>
              </a:spcAft>
              <a:buClr>
                <a:schemeClr val="dk2"/>
              </a:buClr>
              <a:buSzPts val="800"/>
              <a:buChar char="-"/>
            </a:pPr>
            <a:r>
              <a:rPr lang="en" sz="800">
                <a:solidFill>
                  <a:schemeClr val="dk2"/>
                </a:solidFill>
              </a:rPr>
              <a:t>Prominent</a:t>
            </a:r>
            <a:r>
              <a:rPr lang="en" sz="800">
                <a:solidFill>
                  <a:schemeClr val="dk2"/>
                </a:solidFill>
              </a:rPr>
              <a:t> Families</a:t>
            </a:r>
            <a:endParaRPr sz="800">
              <a:solidFill>
                <a:schemeClr val="dk2"/>
              </a:solidFill>
            </a:endParaRPr>
          </a:p>
        </p:txBody>
      </p:sp>
      <p:pic>
        <p:nvPicPr>
          <p:cNvPr id="283" name="Google Shape;283;p32" title="52_logo.png"/>
          <p:cNvPicPr preferRelativeResize="0"/>
          <p:nvPr/>
        </p:nvPicPr>
        <p:blipFill>
          <a:blip r:embed="rId4">
            <a:alphaModFix/>
          </a:blip>
          <a:stretch>
            <a:fillRect/>
          </a:stretch>
        </p:blipFill>
        <p:spPr>
          <a:xfrm>
            <a:off x="8320950" y="4471700"/>
            <a:ext cx="823050" cy="671800"/>
          </a:xfrm>
          <a:prstGeom prst="rect">
            <a:avLst/>
          </a:prstGeom>
          <a:noFill/>
          <a:ln>
            <a:noFill/>
          </a:ln>
        </p:spPr>
      </p:pic>
      <p:cxnSp>
        <p:nvCxnSpPr>
          <p:cNvPr id="284" name="Google Shape;284;p32"/>
          <p:cNvCxnSpPr>
            <a:endCxn id="273" idx="1"/>
          </p:cNvCxnSpPr>
          <p:nvPr/>
        </p:nvCxnSpPr>
        <p:spPr>
          <a:xfrm>
            <a:off x="3323050" y="2265772"/>
            <a:ext cx="2049900" cy="663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285" name="Google Shape;285;p32"/>
          <p:cNvCxnSpPr>
            <a:endCxn id="256" idx="1"/>
          </p:cNvCxnSpPr>
          <p:nvPr/>
        </p:nvCxnSpPr>
        <p:spPr>
          <a:xfrm>
            <a:off x="3323050" y="3020875"/>
            <a:ext cx="2049900" cy="1143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286" name="Google Shape;286;p32"/>
          <p:cNvCxnSpPr>
            <a:endCxn id="264" idx="1"/>
          </p:cNvCxnSpPr>
          <p:nvPr/>
        </p:nvCxnSpPr>
        <p:spPr>
          <a:xfrm>
            <a:off x="3323050" y="3734125"/>
            <a:ext cx="2049900" cy="273600"/>
          </a:xfrm>
          <a:prstGeom prst="bentConnector3">
            <a:avLst>
              <a:gd fmla="val 50000"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Both internal and external hunting together</a:t>
            </a:r>
            <a:endParaRPr/>
          </a:p>
        </p:txBody>
      </p:sp>
      <p:pic>
        <p:nvPicPr>
          <p:cNvPr id="292" name="Google Shape;292;p33" title="Screenshot 2026-04-20 12.45.25.png"/>
          <p:cNvPicPr preferRelativeResize="0"/>
          <p:nvPr/>
        </p:nvPicPr>
        <p:blipFill>
          <a:blip r:embed="rId3">
            <a:alphaModFix/>
          </a:blip>
          <a:stretch>
            <a:fillRect/>
          </a:stretch>
        </p:blipFill>
        <p:spPr>
          <a:xfrm>
            <a:off x="1506725" y="1017721"/>
            <a:ext cx="4971399" cy="3454150"/>
          </a:xfrm>
          <a:prstGeom prst="rect">
            <a:avLst/>
          </a:prstGeom>
          <a:noFill/>
          <a:ln>
            <a:noFill/>
          </a:ln>
        </p:spPr>
      </p:pic>
      <p:pic>
        <p:nvPicPr>
          <p:cNvPr id="293" name="Google Shape;293;p33" title="logo_prime.png"/>
          <p:cNvPicPr preferRelativeResize="0"/>
          <p:nvPr/>
        </p:nvPicPr>
        <p:blipFill>
          <a:blip r:embed="rId4">
            <a:alphaModFix/>
          </a:blip>
          <a:stretch>
            <a:fillRect/>
          </a:stretch>
        </p:blipFill>
        <p:spPr>
          <a:xfrm>
            <a:off x="0" y="4336075"/>
            <a:ext cx="1259625" cy="807425"/>
          </a:xfrm>
          <a:prstGeom prst="rect">
            <a:avLst/>
          </a:prstGeom>
          <a:noFill/>
          <a:ln>
            <a:noFill/>
          </a:ln>
        </p:spPr>
      </p:pic>
      <p:pic>
        <p:nvPicPr>
          <p:cNvPr id="294" name="Google Shape;294;p33" title="52_logo.png"/>
          <p:cNvPicPr preferRelativeResize="0"/>
          <p:nvPr/>
        </p:nvPicPr>
        <p:blipFill>
          <a:blip r:embed="rId5">
            <a:alphaModFix/>
          </a:blip>
          <a:stretch>
            <a:fillRect/>
          </a:stretch>
        </p:blipFill>
        <p:spPr>
          <a:xfrm>
            <a:off x="8320950" y="4471887"/>
            <a:ext cx="823050" cy="671800"/>
          </a:xfrm>
          <a:prstGeom prst="rect">
            <a:avLst/>
          </a:prstGeom>
          <a:noFill/>
          <a:ln>
            <a:noFill/>
          </a:ln>
        </p:spPr>
      </p:pic>
      <p:sp>
        <p:nvSpPr>
          <p:cNvPr id="295" name="Google Shape;295;p33"/>
          <p:cNvSpPr txBox="1"/>
          <p:nvPr/>
        </p:nvSpPr>
        <p:spPr>
          <a:xfrm>
            <a:off x="6983975" y="1189650"/>
            <a:ext cx="2197500" cy="21135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Targeting directors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Blocking those actual in need of services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Taking over full programs</a:t>
            </a:r>
            <a:endParaRPr sz="13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CIA Triad </a:t>
            </a:r>
            <a:endParaRPr/>
          </a:p>
        </p:txBody>
      </p:sp>
      <p:sp>
        <p:nvSpPr>
          <p:cNvPr id="301" name="Google Shape;301;p34"/>
          <p:cNvSpPr/>
          <p:nvPr/>
        </p:nvSpPr>
        <p:spPr>
          <a:xfrm>
            <a:off x="2944078" y="1506712"/>
            <a:ext cx="3501300" cy="3439800"/>
          </a:xfrm>
          <a:prstGeom prst="ellipse">
            <a:avLst/>
          </a:prstGeom>
          <a:solidFill>
            <a:srgbClr val="83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2" name="Google Shape;302;p34"/>
          <p:cNvGrpSpPr/>
          <p:nvPr/>
        </p:nvGrpSpPr>
        <p:grpSpPr>
          <a:xfrm>
            <a:off x="3611780" y="1115981"/>
            <a:ext cx="2166000" cy="2127878"/>
            <a:chOff x="3611776" y="414352"/>
            <a:chExt cx="2166000" cy="2166000"/>
          </a:xfrm>
        </p:grpSpPr>
        <p:sp>
          <p:nvSpPr>
            <p:cNvPr id="303" name="Google Shape;303;p34"/>
            <p:cNvSpPr/>
            <p:nvPr/>
          </p:nvSpPr>
          <p:spPr>
            <a:xfrm>
              <a:off x="3611776" y="414352"/>
              <a:ext cx="2166000" cy="2166000"/>
            </a:xfrm>
            <a:prstGeom prst="ellipse">
              <a:avLst/>
            </a:prstGeom>
            <a:solidFill>
              <a:srgbClr val="249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4"/>
            <p:cNvSpPr txBox="1"/>
            <p:nvPr/>
          </p:nvSpPr>
          <p:spPr>
            <a:xfrm>
              <a:off x="3967546" y="1027503"/>
              <a:ext cx="1496100" cy="70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Roboto"/>
                  <a:ea typeface="Roboto"/>
                  <a:cs typeface="Roboto"/>
                  <a:sym typeface="Roboto"/>
                </a:rPr>
                <a:t>Confidentiality</a:t>
              </a:r>
              <a:endParaRPr sz="1000">
                <a:solidFill>
                  <a:srgbClr val="FFFFFF"/>
                </a:solidFill>
                <a:latin typeface="Roboto"/>
                <a:ea typeface="Roboto"/>
                <a:cs typeface="Roboto"/>
                <a:sym typeface="Roboto"/>
              </a:endParaRPr>
            </a:p>
          </p:txBody>
        </p:sp>
      </p:grpSp>
      <p:grpSp>
        <p:nvGrpSpPr>
          <p:cNvPr id="305" name="Google Shape;305;p34"/>
          <p:cNvGrpSpPr/>
          <p:nvPr/>
        </p:nvGrpSpPr>
        <p:grpSpPr>
          <a:xfrm>
            <a:off x="4562262" y="2706008"/>
            <a:ext cx="2166000" cy="2127878"/>
            <a:chOff x="4562258" y="2032864"/>
            <a:chExt cx="2166000" cy="2166000"/>
          </a:xfrm>
        </p:grpSpPr>
        <p:sp>
          <p:nvSpPr>
            <p:cNvPr id="306" name="Google Shape;306;p34"/>
            <p:cNvSpPr/>
            <p:nvPr/>
          </p:nvSpPr>
          <p:spPr>
            <a:xfrm>
              <a:off x="4562258" y="2032864"/>
              <a:ext cx="2166000" cy="2166000"/>
            </a:xfrm>
            <a:prstGeom prst="ellipse">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4"/>
            <p:cNvSpPr txBox="1"/>
            <p:nvPr/>
          </p:nvSpPr>
          <p:spPr>
            <a:xfrm>
              <a:off x="5079846" y="2834728"/>
              <a:ext cx="1496100" cy="70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Roboto"/>
                  <a:ea typeface="Roboto"/>
                  <a:cs typeface="Roboto"/>
                  <a:sym typeface="Roboto"/>
                </a:rPr>
                <a:t>Integrity</a:t>
              </a:r>
              <a:endParaRPr sz="1000">
                <a:solidFill>
                  <a:srgbClr val="FFFFFF"/>
                </a:solidFill>
                <a:latin typeface="Roboto"/>
                <a:ea typeface="Roboto"/>
                <a:cs typeface="Roboto"/>
                <a:sym typeface="Roboto"/>
              </a:endParaRPr>
            </a:p>
          </p:txBody>
        </p:sp>
      </p:grpSp>
      <p:grpSp>
        <p:nvGrpSpPr>
          <p:cNvPr id="308" name="Google Shape;308;p34"/>
          <p:cNvGrpSpPr/>
          <p:nvPr/>
        </p:nvGrpSpPr>
        <p:grpSpPr>
          <a:xfrm>
            <a:off x="2702880" y="2706008"/>
            <a:ext cx="2166000" cy="2127878"/>
            <a:chOff x="2702876" y="2032864"/>
            <a:chExt cx="2166000" cy="2166000"/>
          </a:xfrm>
        </p:grpSpPr>
        <p:sp>
          <p:nvSpPr>
            <p:cNvPr id="309" name="Google Shape;309;p34"/>
            <p:cNvSpPr/>
            <p:nvPr/>
          </p:nvSpPr>
          <p:spPr>
            <a:xfrm>
              <a:off x="2702876" y="2032864"/>
              <a:ext cx="2166000" cy="2166000"/>
            </a:xfrm>
            <a:prstGeom prst="ellipse">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4"/>
            <p:cNvSpPr txBox="1"/>
            <p:nvPr/>
          </p:nvSpPr>
          <p:spPr>
            <a:xfrm>
              <a:off x="2855281" y="2834728"/>
              <a:ext cx="1496100" cy="70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Roboto"/>
                  <a:ea typeface="Roboto"/>
                  <a:cs typeface="Roboto"/>
                  <a:sym typeface="Roboto"/>
                </a:rPr>
                <a:t>Availability</a:t>
              </a:r>
              <a:endParaRPr sz="1000">
                <a:solidFill>
                  <a:srgbClr val="FFFFFF"/>
                </a:solidFill>
                <a:latin typeface="Roboto"/>
                <a:ea typeface="Roboto"/>
                <a:cs typeface="Roboto"/>
                <a:sym typeface="Roboto"/>
              </a:endParaRPr>
            </a:p>
          </p:txBody>
        </p:sp>
      </p:grpSp>
      <p:sp>
        <p:nvSpPr>
          <p:cNvPr id="311" name="Google Shape;311;p34"/>
          <p:cNvSpPr/>
          <p:nvPr/>
        </p:nvSpPr>
        <p:spPr>
          <a:xfrm>
            <a:off x="4084669" y="2620920"/>
            <a:ext cx="1225800" cy="1204200"/>
          </a:xfrm>
          <a:prstGeom prst="ellipse">
            <a:avLst/>
          </a:prstGeom>
          <a:solidFill>
            <a:srgbClr val="83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4"/>
          <p:cNvSpPr txBox="1"/>
          <p:nvPr/>
        </p:nvSpPr>
        <p:spPr>
          <a:xfrm>
            <a:off x="6865000" y="1091675"/>
            <a:ext cx="2120400" cy="3149100"/>
          </a:xfrm>
          <a:prstGeom prst="rect">
            <a:avLst/>
          </a:prstGeom>
          <a:noFill/>
          <a:ln>
            <a:noFill/>
          </a:ln>
        </p:spPr>
        <p:txBody>
          <a:bodyPr anchorCtr="0" anchor="t" bIns="91425" lIns="91425" spcFirstLastPara="1" rIns="91425" wrap="square" tIns="91425">
            <a:noAutofit/>
          </a:bodyPr>
          <a:lstStyle/>
          <a:p>
            <a:pPr indent="-279400" lvl="0" marL="457200" rtl="0" algn="l">
              <a:lnSpc>
                <a:spcPct val="163636"/>
              </a:lnSpc>
              <a:spcBef>
                <a:spcPts val="0"/>
              </a:spcBef>
              <a:spcAft>
                <a:spcPts val="0"/>
              </a:spcAft>
              <a:buClr>
                <a:schemeClr val="dk1"/>
              </a:buClr>
              <a:buSzPts val="800"/>
              <a:buChar char="●"/>
            </a:pPr>
            <a:r>
              <a:rPr b="1" lang="en" sz="800">
                <a:solidFill>
                  <a:schemeClr val="dk1"/>
                </a:solidFill>
                <a:highlight>
                  <a:srgbClr val="FCFCFC"/>
                </a:highlight>
              </a:rPr>
              <a:t>Confidentiality</a:t>
            </a:r>
            <a:r>
              <a:rPr lang="en" sz="800">
                <a:solidFill>
                  <a:schemeClr val="dk1"/>
                </a:solidFill>
                <a:highlight>
                  <a:srgbClr val="FCFCFC"/>
                </a:highlight>
              </a:rPr>
              <a:t> – preserving authorized restrictions on information access and disclosure, including means for protecting personal privacy and proprietary information</a:t>
            </a:r>
            <a:endParaRPr sz="800">
              <a:solidFill>
                <a:schemeClr val="dk1"/>
              </a:solidFill>
              <a:highlight>
                <a:srgbClr val="FCFCFC"/>
              </a:highlight>
            </a:endParaRPr>
          </a:p>
          <a:p>
            <a:pPr indent="-279400" lvl="0" marL="457200" rtl="0" algn="l">
              <a:lnSpc>
                <a:spcPct val="163636"/>
              </a:lnSpc>
              <a:spcBef>
                <a:spcPts val="0"/>
              </a:spcBef>
              <a:spcAft>
                <a:spcPts val="0"/>
              </a:spcAft>
              <a:buClr>
                <a:schemeClr val="dk1"/>
              </a:buClr>
              <a:buSzPts val="800"/>
              <a:buChar char="●"/>
            </a:pPr>
            <a:r>
              <a:rPr b="1" lang="en" sz="800">
                <a:solidFill>
                  <a:schemeClr val="dk1"/>
                </a:solidFill>
                <a:highlight>
                  <a:srgbClr val="FCFCFC"/>
                </a:highlight>
              </a:rPr>
              <a:t>Integrity</a:t>
            </a:r>
            <a:r>
              <a:rPr lang="en" sz="800">
                <a:solidFill>
                  <a:schemeClr val="dk1"/>
                </a:solidFill>
                <a:highlight>
                  <a:srgbClr val="FCFCFC"/>
                </a:highlight>
              </a:rPr>
              <a:t> – guarding against improper information modification or destruction and ensuring information non-repudiation and authenticity</a:t>
            </a:r>
            <a:endParaRPr sz="800">
              <a:solidFill>
                <a:schemeClr val="dk1"/>
              </a:solidFill>
              <a:highlight>
                <a:srgbClr val="FCFCFC"/>
              </a:highlight>
            </a:endParaRPr>
          </a:p>
          <a:p>
            <a:pPr indent="-279400" lvl="0" marL="457200" rtl="0" algn="l">
              <a:lnSpc>
                <a:spcPct val="163636"/>
              </a:lnSpc>
              <a:spcBef>
                <a:spcPts val="0"/>
              </a:spcBef>
              <a:spcAft>
                <a:spcPts val="0"/>
              </a:spcAft>
              <a:buClr>
                <a:schemeClr val="dk1"/>
              </a:buClr>
              <a:buSzPts val="800"/>
              <a:buChar char="●"/>
            </a:pPr>
            <a:r>
              <a:rPr b="1" lang="en" sz="800">
                <a:solidFill>
                  <a:schemeClr val="dk1"/>
                </a:solidFill>
                <a:highlight>
                  <a:srgbClr val="FCFCFC"/>
                </a:highlight>
              </a:rPr>
              <a:t>Availability</a:t>
            </a:r>
            <a:r>
              <a:rPr lang="en" sz="800">
                <a:solidFill>
                  <a:schemeClr val="dk1"/>
                </a:solidFill>
                <a:highlight>
                  <a:srgbClr val="FCFCFC"/>
                </a:highlight>
              </a:rPr>
              <a:t> – ensuring timely and reliable access to and use of information</a:t>
            </a:r>
            <a:endParaRPr sz="800">
              <a:solidFill>
                <a:schemeClr val="dk1"/>
              </a:solidFill>
              <a:highlight>
                <a:srgbClr val="FCFCFC"/>
              </a:highlight>
            </a:endParaRPr>
          </a:p>
          <a:p>
            <a:pPr indent="-279400" lvl="0" marL="457200" rtl="0" algn="l">
              <a:lnSpc>
                <a:spcPct val="163636"/>
              </a:lnSpc>
              <a:spcBef>
                <a:spcPts val="0"/>
              </a:spcBef>
              <a:spcAft>
                <a:spcPts val="0"/>
              </a:spcAft>
              <a:buClr>
                <a:schemeClr val="dk1"/>
              </a:buClr>
              <a:buSzPts val="800"/>
              <a:buChar char="●"/>
            </a:pPr>
            <a:r>
              <a:rPr lang="en" sz="800">
                <a:solidFill>
                  <a:schemeClr val="dk1"/>
                </a:solidFill>
                <a:highlight>
                  <a:srgbClr val="FCFCFC"/>
                </a:highlight>
              </a:rPr>
              <a:t>NIST  SP 800-12 rev1</a:t>
            </a:r>
            <a:endParaRPr sz="800">
              <a:solidFill>
                <a:schemeClr val="dk1"/>
              </a:solidFill>
              <a:highlight>
                <a:srgbClr val="FCFCFC"/>
              </a:highlight>
            </a:endParaRPr>
          </a:p>
          <a:p>
            <a:pPr indent="0" lvl="0" marL="457200" rtl="0" algn="l">
              <a:spcBef>
                <a:spcPts val="3000"/>
              </a:spcBef>
              <a:spcAft>
                <a:spcPts val="0"/>
              </a:spcAft>
              <a:buNone/>
            </a:pPr>
            <a:r>
              <a:t/>
            </a:r>
            <a:endParaRPr sz="600">
              <a:solidFill>
                <a:srgbClr val="0A0A0A"/>
              </a:solidFill>
              <a:highlight>
                <a:srgbClr val="FFFFFF"/>
              </a:highlight>
              <a:latin typeface="Roboto"/>
              <a:ea typeface="Roboto"/>
              <a:cs typeface="Roboto"/>
              <a:sym typeface="Roboto"/>
            </a:endParaRPr>
          </a:p>
        </p:txBody>
      </p:sp>
      <p:pic>
        <p:nvPicPr>
          <p:cNvPr id="313" name="Google Shape;313;p34" title="logo_prime.png"/>
          <p:cNvPicPr preferRelativeResize="0"/>
          <p:nvPr/>
        </p:nvPicPr>
        <p:blipFill>
          <a:blip r:embed="rId3">
            <a:alphaModFix/>
          </a:blip>
          <a:stretch>
            <a:fillRect/>
          </a:stretch>
        </p:blipFill>
        <p:spPr>
          <a:xfrm>
            <a:off x="0" y="4336075"/>
            <a:ext cx="1259625" cy="807425"/>
          </a:xfrm>
          <a:prstGeom prst="rect">
            <a:avLst/>
          </a:prstGeom>
          <a:noFill/>
          <a:ln>
            <a:noFill/>
          </a:ln>
        </p:spPr>
      </p:pic>
      <p:pic>
        <p:nvPicPr>
          <p:cNvPr id="314" name="Google Shape;314;p34" title="52_logo.png"/>
          <p:cNvPicPr preferRelativeResize="0"/>
          <p:nvPr/>
        </p:nvPicPr>
        <p:blipFill>
          <a:blip r:embed="rId4">
            <a:alphaModFix/>
          </a:blip>
          <a:stretch>
            <a:fillRect/>
          </a:stretch>
        </p:blipFill>
        <p:spPr>
          <a:xfrm>
            <a:off x="8320950" y="4471700"/>
            <a:ext cx="823050" cy="671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5"/>
          <p:cNvSpPr txBox="1"/>
          <p:nvPr>
            <p:ph type="title"/>
          </p:nvPr>
        </p:nvSpPr>
        <p:spPr>
          <a:xfrm>
            <a:off x="402675" y="19990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120"/>
              <a:t>Thank you</a:t>
            </a:r>
            <a:endParaRPr sz="3120"/>
          </a:p>
        </p:txBody>
      </p:sp>
      <p:pic>
        <p:nvPicPr>
          <p:cNvPr id="320" name="Google Shape;320;p35" title="logo_prime.png"/>
          <p:cNvPicPr preferRelativeResize="0"/>
          <p:nvPr/>
        </p:nvPicPr>
        <p:blipFill>
          <a:blip r:embed="rId3">
            <a:alphaModFix/>
          </a:blip>
          <a:stretch>
            <a:fillRect/>
          </a:stretch>
        </p:blipFill>
        <p:spPr>
          <a:xfrm>
            <a:off x="0" y="4336075"/>
            <a:ext cx="1259625" cy="807425"/>
          </a:xfrm>
          <a:prstGeom prst="rect">
            <a:avLst/>
          </a:prstGeom>
          <a:noFill/>
          <a:ln>
            <a:noFill/>
          </a:ln>
        </p:spPr>
      </p:pic>
      <p:pic>
        <p:nvPicPr>
          <p:cNvPr id="321" name="Google Shape;321;p35" title="52_logo.png"/>
          <p:cNvPicPr preferRelativeResize="0"/>
          <p:nvPr/>
        </p:nvPicPr>
        <p:blipFill>
          <a:blip r:embed="rId4">
            <a:alphaModFix/>
          </a:blip>
          <a:stretch>
            <a:fillRect/>
          </a:stretch>
        </p:blipFill>
        <p:spPr>
          <a:xfrm>
            <a:off x="0" y="0"/>
            <a:ext cx="823050" cy="671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6"/>
          <p:cNvSpPr txBox="1"/>
          <p:nvPr>
            <p:ph type="title"/>
          </p:nvPr>
        </p:nvSpPr>
        <p:spPr>
          <a:xfrm>
            <a:off x="311700" y="17116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Minority representation</a:t>
            </a:r>
            <a:endParaRPr/>
          </a:p>
        </p:txBody>
      </p:sp>
      <p:pic>
        <p:nvPicPr>
          <p:cNvPr id="327" name="Google Shape;327;p36" title="53_logo.png"/>
          <p:cNvPicPr preferRelativeResize="0"/>
          <p:nvPr/>
        </p:nvPicPr>
        <p:blipFill>
          <a:blip r:embed="rId3">
            <a:alphaModFix amt="78000"/>
          </a:blip>
          <a:stretch>
            <a:fillRect/>
          </a:stretch>
        </p:blipFill>
        <p:spPr>
          <a:xfrm>
            <a:off x="0" y="0"/>
            <a:ext cx="670025" cy="546900"/>
          </a:xfrm>
          <a:prstGeom prst="rect">
            <a:avLst/>
          </a:prstGeom>
          <a:noFill/>
          <a:ln>
            <a:noFill/>
          </a:ln>
        </p:spPr>
      </p:pic>
      <p:pic>
        <p:nvPicPr>
          <p:cNvPr id="328" name="Google Shape;328;p36" title="logo_prime.png"/>
          <p:cNvPicPr preferRelativeResize="0"/>
          <p:nvPr/>
        </p:nvPicPr>
        <p:blipFill>
          <a:blip r:embed="rId4">
            <a:alphaModFix/>
          </a:blip>
          <a:stretch>
            <a:fillRect/>
          </a:stretch>
        </p:blipFill>
        <p:spPr>
          <a:xfrm>
            <a:off x="0" y="4336075"/>
            <a:ext cx="1259625" cy="8074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No the Differences lives depend on it.</a:t>
            </a:r>
            <a:endParaRPr/>
          </a:p>
        </p:txBody>
      </p:sp>
      <p:pic>
        <p:nvPicPr>
          <p:cNvPr id="334" name="Google Shape;334;p37" title="Screenshot 2026-04-17 13.16.39.png"/>
          <p:cNvPicPr preferRelativeResize="0"/>
          <p:nvPr/>
        </p:nvPicPr>
        <p:blipFill>
          <a:blip r:embed="rId3">
            <a:alphaModFix/>
          </a:blip>
          <a:stretch>
            <a:fillRect/>
          </a:stretch>
        </p:blipFill>
        <p:spPr>
          <a:xfrm>
            <a:off x="215479" y="1203650"/>
            <a:ext cx="4571125" cy="2407225"/>
          </a:xfrm>
          <a:prstGeom prst="rect">
            <a:avLst/>
          </a:prstGeom>
          <a:noFill/>
          <a:ln>
            <a:noFill/>
          </a:ln>
        </p:spPr>
      </p:pic>
      <p:pic>
        <p:nvPicPr>
          <p:cNvPr id="335" name="Google Shape;335;p37" title="Screenshot 2026-04-17 13.18.22.png"/>
          <p:cNvPicPr preferRelativeResize="0"/>
          <p:nvPr/>
        </p:nvPicPr>
        <p:blipFill>
          <a:blip r:embed="rId4">
            <a:alphaModFix/>
          </a:blip>
          <a:stretch>
            <a:fillRect/>
          </a:stretch>
        </p:blipFill>
        <p:spPr>
          <a:xfrm>
            <a:off x="4939004" y="1170125"/>
            <a:ext cx="4052596" cy="2582327"/>
          </a:xfrm>
          <a:prstGeom prst="rect">
            <a:avLst/>
          </a:prstGeom>
          <a:noFill/>
          <a:ln>
            <a:noFill/>
          </a:ln>
        </p:spPr>
      </p:pic>
      <p:pic>
        <p:nvPicPr>
          <p:cNvPr id="336" name="Google Shape;336;p37" title="53_logo.png"/>
          <p:cNvPicPr preferRelativeResize="0"/>
          <p:nvPr/>
        </p:nvPicPr>
        <p:blipFill>
          <a:blip r:embed="rId5">
            <a:alphaModFix amt="78000"/>
          </a:blip>
          <a:stretch>
            <a:fillRect/>
          </a:stretch>
        </p:blipFill>
        <p:spPr>
          <a:xfrm>
            <a:off x="8473975" y="4568875"/>
            <a:ext cx="670025" cy="546900"/>
          </a:xfrm>
          <a:prstGeom prst="rect">
            <a:avLst/>
          </a:prstGeom>
          <a:noFill/>
          <a:ln>
            <a:noFill/>
          </a:ln>
        </p:spPr>
      </p:pic>
      <p:pic>
        <p:nvPicPr>
          <p:cNvPr id="337" name="Google Shape;337;p37" title="logo_prime.png"/>
          <p:cNvPicPr preferRelativeResize="0"/>
          <p:nvPr/>
        </p:nvPicPr>
        <p:blipFill>
          <a:blip r:embed="rId6">
            <a:alphaModFix/>
          </a:blip>
          <a:stretch>
            <a:fillRect/>
          </a:stretch>
        </p:blipFill>
        <p:spPr>
          <a:xfrm>
            <a:off x="0" y="4336075"/>
            <a:ext cx="1259625" cy="807425"/>
          </a:xfrm>
          <a:prstGeom prst="rect">
            <a:avLst/>
          </a:prstGeom>
          <a:noFill/>
          <a:ln>
            <a:noFill/>
          </a:ln>
        </p:spPr>
      </p:pic>
      <p:sp>
        <p:nvSpPr>
          <p:cNvPr id="338" name="Google Shape;338;p37"/>
          <p:cNvSpPr txBox="1"/>
          <p:nvPr/>
        </p:nvSpPr>
        <p:spPr>
          <a:xfrm>
            <a:off x="5302625" y="4037225"/>
            <a:ext cx="2259600" cy="2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1F1F1F"/>
                </a:solidFill>
                <a:highlight>
                  <a:srgbClr val="FFFFFF"/>
                </a:highlight>
                <a:latin typeface="Roboto"/>
                <a:ea typeface="Roboto"/>
                <a:cs typeface="Roboto"/>
                <a:sym typeface="Roboto"/>
              </a:rPr>
              <a:t>De Oppresso Liber</a:t>
            </a:r>
            <a:endParaRPr b="1" sz="700">
              <a:solidFill>
                <a:schemeClr val="dk2"/>
              </a:solidFill>
            </a:endParaRPr>
          </a:p>
        </p:txBody>
      </p:sp>
      <p:sp>
        <p:nvSpPr>
          <p:cNvPr id="339" name="Google Shape;339;p37"/>
          <p:cNvSpPr txBox="1"/>
          <p:nvPr/>
        </p:nvSpPr>
        <p:spPr>
          <a:xfrm>
            <a:off x="5302625" y="4336075"/>
            <a:ext cx="2513700" cy="2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1F1F1F"/>
                </a:solidFill>
                <a:highlight>
                  <a:srgbClr val="FFFFFF"/>
                </a:highlight>
                <a:latin typeface="Roboto"/>
                <a:ea typeface="Roboto"/>
                <a:cs typeface="Roboto"/>
                <a:sym typeface="Roboto"/>
              </a:rPr>
              <a:t>To Free the Oppressed</a:t>
            </a:r>
            <a:endParaRPr sz="7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Combat veteran point of view from staff interaction</a:t>
            </a:r>
            <a:endParaRPr/>
          </a:p>
        </p:txBody>
      </p:sp>
      <p:sp>
        <p:nvSpPr>
          <p:cNvPr id="345" name="Google Shape;345;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Rambo jail </a:t>
            </a:r>
            <a:r>
              <a:rPr lang="en" u="sng">
                <a:solidFill>
                  <a:schemeClr val="hlink"/>
                </a:solidFill>
                <a:hlinkClick r:id="rId3"/>
              </a:rPr>
              <a:t>https://youtu.be/2-aDz23CId8?si=JB6MuvuR14YIIygG</a:t>
            </a:r>
            <a:endParaRPr/>
          </a:p>
          <a:p>
            <a:pPr indent="-342900" lvl="0" marL="457200" rtl="0" algn="l">
              <a:spcBef>
                <a:spcPts val="0"/>
              </a:spcBef>
              <a:spcAft>
                <a:spcPts val="0"/>
              </a:spcAft>
              <a:buSzPts val="1800"/>
              <a:buChar char="-"/>
            </a:pPr>
            <a:r>
              <a:rPr lang="en"/>
              <a:t>Rambo - </a:t>
            </a:r>
            <a:r>
              <a:rPr lang="en" u="sng">
                <a:solidFill>
                  <a:schemeClr val="hlink"/>
                </a:solidFill>
                <a:hlinkClick r:id="rId4"/>
              </a:rPr>
              <a:t>https://youtu.be/eJk4JNM7vas?si=1ZFmMbWtl37gHhGI</a:t>
            </a:r>
            <a:endParaRPr/>
          </a:p>
          <a:p>
            <a:pPr indent="-342900" lvl="0" marL="457200" rtl="0" algn="l">
              <a:spcBef>
                <a:spcPts val="0"/>
              </a:spcBef>
              <a:spcAft>
                <a:spcPts val="0"/>
              </a:spcAft>
              <a:buSzPts val="1800"/>
              <a:buChar char="-"/>
            </a:pPr>
            <a:r>
              <a:rPr lang="en"/>
              <a:t>Ranger RRC - </a:t>
            </a:r>
            <a:r>
              <a:rPr lang="en" u="sng">
                <a:solidFill>
                  <a:schemeClr val="hlink"/>
                </a:solidFill>
                <a:hlinkClick r:id="rId5"/>
              </a:rPr>
              <a:t>https://youtu.be/yqpPogpji84?si=VVqOUDksSOz49eGV</a:t>
            </a:r>
            <a:endParaRPr/>
          </a:p>
          <a:p>
            <a:pPr indent="-342900" lvl="0" marL="457200" rtl="0" algn="l">
              <a:spcBef>
                <a:spcPts val="0"/>
              </a:spcBef>
              <a:spcAft>
                <a:spcPts val="0"/>
              </a:spcAft>
              <a:buSzPts val="1800"/>
              <a:buChar char="-"/>
            </a:pPr>
            <a:r>
              <a:rPr lang="en"/>
              <a:t>What you subject us to - Cell </a:t>
            </a:r>
            <a:r>
              <a:rPr lang="en" u="sng">
                <a:solidFill>
                  <a:schemeClr val="hlink"/>
                </a:solidFill>
                <a:hlinkClick r:id="rId6"/>
              </a:rPr>
              <a:t>https://youtu.be/MreNB4cH3Rk?si=kCobL646b04ZANSx</a:t>
            </a:r>
            <a:endParaRPr/>
          </a:p>
        </p:txBody>
      </p:sp>
      <p:pic>
        <p:nvPicPr>
          <p:cNvPr id="346" name="Google Shape;346;p38" title="53_logo.png"/>
          <p:cNvPicPr preferRelativeResize="0"/>
          <p:nvPr/>
        </p:nvPicPr>
        <p:blipFill>
          <a:blip r:embed="rId7">
            <a:alphaModFix amt="78000"/>
          </a:blip>
          <a:stretch>
            <a:fillRect/>
          </a:stretch>
        </p:blipFill>
        <p:spPr>
          <a:xfrm>
            <a:off x="8473975" y="4596600"/>
            <a:ext cx="670025" cy="546900"/>
          </a:xfrm>
          <a:prstGeom prst="rect">
            <a:avLst/>
          </a:prstGeom>
          <a:noFill/>
          <a:ln>
            <a:noFill/>
          </a:ln>
        </p:spPr>
      </p:pic>
      <p:pic>
        <p:nvPicPr>
          <p:cNvPr id="347" name="Google Shape;347;p38" title="logo_prime.png"/>
          <p:cNvPicPr preferRelativeResize="0"/>
          <p:nvPr/>
        </p:nvPicPr>
        <p:blipFill>
          <a:blip r:embed="rId8">
            <a:alphaModFix/>
          </a:blip>
          <a:stretch>
            <a:fillRect/>
          </a:stretch>
        </p:blipFill>
        <p:spPr>
          <a:xfrm>
            <a:off x="0" y="4336075"/>
            <a:ext cx="1259625" cy="8074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Army values</a:t>
            </a:r>
            <a:endParaRPr/>
          </a:p>
        </p:txBody>
      </p:sp>
      <p:sp>
        <p:nvSpPr>
          <p:cNvPr id="353" name="Google Shape;353;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Loyalty </a:t>
            </a:r>
            <a:r>
              <a:rPr lang="en"/>
              <a:t> Devote yourself to the U.S Constitution</a:t>
            </a:r>
            <a:endParaRPr/>
          </a:p>
          <a:p>
            <a:pPr indent="-342900" lvl="0" marL="457200" rtl="0" algn="l">
              <a:spcBef>
                <a:spcPts val="0"/>
              </a:spcBef>
              <a:spcAft>
                <a:spcPts val="0"/>
              </a:spcAft>
              <a:buSzPts val="1800"/>
              <a:buChar char="-"/>
            </a:pPr>
            <a:r>
              <a:rPr b="1" lang="en"/>
              <a:t>Duty </a:t>
            </a:r>
            <a:r>
              <a:rPr lang="en"/>
              <a:t> Fulfill your responsibilities and accomplish tasks as part of a team, without taking shortcuts.</a:t>
            </a:r>
            <a:endParaRPr/>
          </a:p>
          <a:p>
            <a:pPr indent="-342900" lvl="0" marL="457200" rtl="0" algn="l">
              <a:spcBef>
                <a:spcPts val="0"/>
              </a:spcBef>
              <a:spcAft>
                <a:spcPts val="0"/>
              </a:spcAft>
              <a:buSzPts val="1800"/>
              <a:buChar char="-"/>
            </a:pPr>
            <a:r>
              <a:rPr b="1" lang="en">
                <a:highlight>
                  <a:srgbClr val="00FF00"/>
                </a:highlight>
              </a:rPr>
              <a:t>Respect</a:t>
            </a:r>
            <a:r>
              <a:rPr b="1" lang="en"/>
              <a:t> </a:t>
            </a:r>
            <a:r>
              <a:rPr lang="en"/>
              <a:t> Treat others with dignity and respect while expecting others to do the same</a:t>
            </a:r>
            <a:endParaRPr/>
          </a:p>
          <a:p>
            <a:pPr indent="-342900" lvl="0" marL="457200" rtl="0" algn="l">
              <a:spcBef>
                <a:spcPts val="0"/>
              </a:spcBef>
              <a:spcAft>
                <a:spcPts val="0"/>
              </a:spcAft>
              <a:buSzPts val="1800"/>
              <a:buChar char="-"/>
            </a:pPr>
            <a:r>
              <a:rPr b="1" lang="en"/>
              <a:t>Selfless service </a:t>
            </a:r>
            <a:r>
              <a:rPr lang="en"/>
              <a:t> Commit to going a furtherm enduring longer, and adding to the effort in your own way</a:t>
            </a:r>
            <a:endParaRPr/>
          </a:p>
          <a:p>
            <a:pPr indent="-342900" lvl="0" marL="457200" rtl="0" algn="l">
              <a:spcBef>
                <a:spcPts val="0"/>
              </a:spcBef>
              <a:spcAft>
                <a:spcPts val="0"/>
              </a:spcAft>
              <a:buSzPts val="1800"/>
              <a:buChar char="-"/>
            </a:pPr>
            <a:r>
              <a:rPr b="1" lang="en">
                <a:highlight>
                  <a:srgbClr val="00FF00"/>
                </a:highlight>
              </a:rPr>
              <a:t>Honor </a:t>
            </a:r>
            <a:r>
              <a:rPr lang="en">
                <a:highlight>
                  <a:srgbClr val="00FF00"/>
                </a:highlight>
              </a:rPr>
              <a:t> </a:t>
            </a:r>
            <a:r>
              <a:rPr lang="en"/>
              <a:t>Develop honorable habits and live up to our values in every choice you make</a:t>
            </a:r>
            <a:endParaRPr/>
          </a:p>
          <a:p>
            <a:pPr indent="-342900" lvl="0" marL="457200" rtl="0" algn="l">
              <a:spcBef>
                <a:spcPts val="0"/>
              </a:spcBef>
              <a:spcAft>
                <a:spcPts val="0"/>
              </a:spcAft>
              <a:buSzPts val="1800"/>
              <a:buChar char="-"/>
            </a:pPr>
            <a:r>
              <a:rPr b="1" lang="en">
                <a:highlight>
                  <a:srgbClr val="00FF00"/>
                </a:highlight>
              </a:rPr>
              <a:t>Integrity</a:t>
            </a:r>
            <a:r>
              <a:rPr b="1" lang="en"/>
              <a:t> </a:t>
            </a:r>
            <a:r>
              <a:rPr lang="en"/>
              <a:t>Stand up for what is right, legally and morally, without doing or saying anything that deceives others</a:t>
            </a:r>
            <a:endParaRPr/>
          </a:p>
          <a:p>
            <a:pPr indent="-342900" lvl="0" marL="457200" rtl="0" algn="l">
              <a:spcBef>
                <a:spcPts val="0"/>
              </a:spcBef>
              <a:spcAft>
                <a:spcPts val="0"/>
              </a:spcAft>
              <a:buSzPts val="1800"/>
              <a:buChar char="-"/>
            </a:pPr>
            <a:r>
              <a:rPr b="1" lang="en"/>
              <a:t>Personal courage </a:t>
            </a:r>
            <a:r>
              <a:rPr lang="en"/>
              <a:t> Face moral fear or adversity, while standing up for and acting upon the things you know are honorable</a:t>
            </a:r>
            <a:endParaRPr/>
          </a:p>
        </p:txBody>
      </p:sp>
      <p:pic>
        <p:nvPicPr>
          <p:cNvPr id="354" name="Google Shape;354;p39" title="53_logo.png"/>
          <p:cNvPicPr preferRelativeResize="0"/>
          <p:nvPr/>
        </p:nvPicPr>
        <p:blipFill>
          <a:blip r:embed="rId3">
            <a:alphaModFix amt="78000"/>
          </a:blip>
          <a:stretch>
            <a:fillRect/>
          </a:stretch>
        </p:blipFill>
        <p:spPr>
          <a:xfrm>
            <a:off x="8473975" y="4568875"/>
            <a:ext cx="670025" cy="546900"/>
          </a:xfrm>
          <a:prstGeom prst="rect">
            <a:avLst/>
          </a:prstGeom>
          <a:noFill/>
          <a:ln>
            <a:noFill/>
          </a:ln>
        </p:spPr>
      </p:pic>
      <p:pic>
        <p:nvPicPr>
          <p:cNvPr id="355" name="Google Shape;355;p39" title="logo_prime.png"/>
          <p:cNvPicPr preferRelativeResize="0"/>
          <p:nvPr/>
        </p:nvPicPr>
        <p:blipFill>
          <a:blip r:embed="rId4">
            <a:alphaModFix/>
          </a:blip>
          <a:stretch>
            <a:fillRect/>
          </a:stretch>
        </p:blipFill>
        <p:spPr>
          <a:xfrm>
            <a:off x="0" y="4336075"/>
            <a:ext cx="1259625" cy="8074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Escalation of force</a:t>
            </a:r>
            <a:endParaRPr/>
          </a:p>
        </p:txBody>
      </p:sp>
      <p:sp>
        <p:nvSpPr>
          <p:cNvPr id="361" name="Google Shape;361;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Used to prevent miltary and law enforcement personnel from causing harm to enemy combatants who are surrendering or wounded and out of combat threat.</a:t>
            </a:r>
            <a:endParaRPr/>
          </a:p>
        </p:txBody>
      </p:sp>
      <p:pic>
        <p:nvPicPr>
          <p:cNvPr id="362" name="Google Shape;362;p40" title="53_logo.png"/>
          <p:cNvPicPr preferRelativeResize="0"/>
          <p:nvPr/>
        </p:nvPicPr>
        <p:blipFill>
          <a:blip r:embed="rId3">
            <a:alphaModFix amt="78000"/>
          </a:blip>
          <a:stretch>
            <a:fillRect/>
          </a:stretch>
        </p:blipFill>
        <p:spPr>
          <a:xfrm>
            <a:off x="8473975" y="4568875"/>
            <a:ext cx="670025" cy="546900"/>
          </a:xfrm>
          <a:prstGeom prst="rect">
            <a:avLst/>
          </a:prstGeom>
          <a:noFill/>
          <a:ln>
            <a:noFill/>
          </a:ln>
        </p:spPr>
      </p:pic>
      <p:pic>
        <p:nvPicPr>
          <p:cNvPr id="363" name="Google Shape;363;p40" title="logo_prime.png"/>
          <p:cNvPicPr preferRelativeResize="0"/>
          <p:nvPr/>
        </p:nvPicPr>
        <p:blipFill>
          <a:blip r:embed="rId4">
            <a:alphaModFix/>
          </a:blip>
          <a:stretch>
            <a:fillRect/>
          </a:stretch>
        </p:blipFill>
        <p:spPr>
          <a:xfrm>
            <a:off x="0" y="4336075"/>
            <a:ext cx="1259625" cy="8074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Rule of Engagment</a:t>
            </a:r>
            <a:endParaRPr/>
          </a:p>
        </p:txBody>
      </p:sp>
      <p:sp>
        <p:nvSpPr>
          <p:cNvPr id="369" name="Google Shape;369;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Directives that delineate the circumstances and limitations under which U.S forces will inititate and/or continue combat engagement.</a:t>
            </a:r>
            <a:endParaRPr/>
          </a:p>
          <a:p>
            <a:pPr indent="0" lvl="0" marL="0" rtl="0" algn="l">
              <a:spcBef>
                <a:spcPts val="1200"/>
              </a:spcBef>
              <a:spcAft>
                <a:spcPts val="1200"/>
              </a:spcAft>
              <a:buNone/>
            </a:pPr>
            <a:r>
              <a:t/>
            </a:r>
            <a:endParaRPr/>
          </a:p>
        </p:txBody>
      </p:sp>
      <p:pic>
        <p:nvPicPr>
          <p:cNvPr id="370" name="Google Shape;370;p41" title="53_logo.png"/>
          <p:cNvPicPr preferRelativeResize="0"/>
          <p:nvPr/>
        </p:nvPicPr>
        <p:blipFill>
          <a:blip r:embed="rId3">
            <a:alphaModFix amt="78000"/>
          </a:blip>
          <a:stretch>
            <a:fillRect/>
          </a:stretch>
        </p:blipFill>
        <p:spPr>
          <a:xfrm>
            <a:off x="8473975" y="4568875"/>
            <a:ext cx="670025" cy="546900"/>
          </a:xfrm>
          <a:prstGeom prst="rect">
            <a:avLst/>
          </a:prstGeom>
          <a:noFill/>
          <a:ln>
            <a:noFill/>
          </a:ln>
        </p:spPr>
      </p:pic>
      <p:pic>
        <p:nvPicPr>
          <p:cNvPr id="371" name="Google Shape;371;p41" title="logo_prime.png"/>
          <p:cNvPicPr preferRelativeResize="0"/>
          <p:nvPr/>
        </p:nvPicPr>
        <p:blipFill>
          <a:blip r:embed="rId4">
            <a:alphaModFix/>
          </a:blip>
          <a:stretch>
            <a:fillRect/>
          </a:stretch>
        </p:blipFill>
        <p:spPr>
          <a:xfrm>
            <a:off x="0" y="4336075"/>
            <a:ext cx="1259625" cy="8074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Mindset of a combat soldier </a:t>
            </a:r>
            <a:endParaRPr/>
          </a:p>
        </p:txBody>
      </p:sp>
      <p:pic>
        <p:nvPicPr>
          <p:cNvPr id="377" name="Google Shape;377;p42" title="Screenshot 2026-04-17 09.25.31.png"/>
          <p:cNvPicPr preferRelativeResize="0"/>
          <p:nvPr/>
        </p:nvPicPr>
        <p:blipFill>
          <a:blip r:embed="rId3">
            <a:alphaModFix/>
          </a:blip>
          <a:stretch>
            <a:fillRect/>
          </a:stretch>
        </p:blipFill>
        <p:spPr>
          <a:xfrm>
            <a:off x="1544975" y="1017725"/>
            <a:ext cx="5589827" cy="3820974"/>
          </a:xfrm>
          <a:prstGeom prst="rect">
            <a:avLst/>
          </a:prstGeom>
          <a:noFill/>
          <a:ln>
            <a:noFill/>
          </a:ln>
        </p:spPr>
      </p:pic>
      <p:pic>
        <p:nvPicPr>
          <p:cNvPr id="378" name="Google Shape;378;p42" title="53_logo.png"/>
          <p:cNvPicPr preferRelativeResize="0"/>
          <p:nvPr/>
        </p:nvPicPr>
        <p:blipFill>
          <a:blip r:embed="rId4">
            <a:alphaModFix amt="78000"/>
          </a:blip>
          <a:stretch>
            <a:fillRect/>
          </a:stretch>
        </p:blipFill>
        <p:spPr>
          <a:xfrm>
            <a:off x="8473975" y="4596600"/>
            <a:ext cx="670025" cy="546900"/>
          </a:xfrm>
          <a:prstGeom prst="rect">
            <a:avLst/>
          </a:prstGeom>
          <a:noFill/>
          <a:ln>
            <a:noFill/>
          </a:ln>
        </p:spPr>
      </p:pic>
      <p:pic>
        <p:nvPicPr>
          <p:cNvPr id="379" name="Google Shape;379;p42" title="logo_prime.png"/>
          <p:cNvPicPr preferRelativeResize="0"/>
          <p:nvPr/>
        </p:nvPicPr>
        <p:blipFill>
          <a:blip r:embed="rId5">
            <a:alphaModFix/>
          </a:blip>
          <a:stretch>
            <a:fillRect/>
          </a:stretch>
        </p:blipFill>
        <p:spPr>
          <a:xfrm>
            <a:off x="0" y="4336075"/>
            <a:ext cx="1259625" cy="8074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Creeds in which they live by</a:t>
            </a:r>
            <a:endParaRPr/>
          </a:p>
          <a:p>
            <a:pPr indent="0" lvl="0" marL="0" rtl="0" algn="l">
              <a:spcBef>
                <a:spcPts val="0"/>
              </a:spcBef>
              <a:spcAft>
                <a:spcPts val="0"/>
              </a:spcAft>
              <a:buNone/>
            </a:pPr>
            <a:r>
              <a:t/>
            </a:r>
            <a:endParaRPr/>
          </a:p>
        </p:txBody>
      </p:sp>
      <p:sp>
        <p:nvSpPr>
          <p:cNvPr id="385" name="Google Shape;385;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highlight>
                  <a:srgbClr val="00FF00"/>
                </a:highlight>
              </a:rPr>
              <a:t>Recognizing</a:t>
            </a:r>
            <a:r>
              <a:rPr lang="en">
                <a:highlight>
                  <a:srgbClr val="00FF00"/>
                </a:highlight>
              </a:rPr>
              <a:t> that I volunteered as a Ranger,</a:t>
            </a:r>
            <a:r>
              <a:rPr lang="en"/>
              <a:t> fully knowing the hazards of my chosen profession. I willl always endeavor to uphold the prestige, honor and high esprit-de-corps of my Ranger Regiment.</a:t>
            </a:r>
            <a:endParaRPr/>
          </a:p>
          <a:p>
            <a:pPr indent="-342900" lvl="0" marL="457200" rtl="0" algn="l">
              <a:spcBef>
                <a:spcPts val="0"/>
              </a:spcBef>
              <a:spcAft>
                <a:spcPts val="0"/>
              </a:spcAft>
              <a:buSzPts val="1800"/>
              <a:buChar char="-"/>
            </a:pPr>
            <a:r>
              <a:rPr b="1" lang="en"/>
              <a:t>Acknowledging</a:t>
            </a:r>
            <a:r>
              <a:rPr lang="en"/>
              <a:t> the fact that a Ranger is a more elite Soldier who arrives at the cutting edge of battle by land, sea, or air, I accept the fact that </a:t>
            </a:r>
            <a:r>
              <a:rPr lang="en">
                <a:highlight>
                  <a:srgbClr val="00FF00"/>
                </a:highlight>
              </a:rPr>
              <a:t>as a Ranger my country expects </a:t>
            </a:r>
            <a:r>
              <a:rPr lang="en"/>
              <a:t>me to move further, faster and fight harder than any other soldier</a:t>
            </a:r>
            <a:endParaRPr/>
          </a:p>
          <a:p>
            <a:pPr indent="-342900" lvl="0" marL="457200" rtl="0" algn="l">
              <a:spcBef>
                <a:spcPts val="0"/>
              </a:spcBef>
              <a:spcAft>
                <a:spcPts val="0"/>
              </a:spcAft>
              <a:buSzPts val="1800"/>
              <a:buChar char="-"/>
            </a:pPr>
            <a:r>
              <a:rPr b="1" lang="en"/>
              <a:t>Never</a:t>
            </a:r>
            <a:r>
              <a:rPr lang="en"/>
              <a:t> shall I fail my comrades. I will always keep myself mentally, alert, physically strong, and morally straight and I will shoulder </a:t>
            </a:r>
            <a:r>
              <a:rPr lang="en">
                <a:highlight>
                  <a:srgbClr val="00FF00"/>
                </a:highlight>
              </a:rPr>
              <a:t>more than my share of the task</a:t>
            </a:r>
            <a:r>
              <a:rPr lang="en"/>
              <a:t>, </a:t>
            </a:r>
            <a:r>
              <a:rPr lang="en"/>
              <a:t>whatever</a:t>
            </a:r>
            <a:r>
              <a:rPr lang="en"/>
              <a:t> it may be, one hundred percent and then some. </a:t>
            </a:r>
            <a:endParaRPr/>
          </a:p>
          <a:p>
            <a:pPr indent="-342900" lvl="0" marL="457200" rtl="0" algn="l">
              <a:spcBef>
                <a:spcPts val="0"/>
              </a:spcBef>
              <a:spcAft>
                <a:spcPts val="0"/>
              </a:spcAft>
              <a:buSzPts val="1800"/>
              <a:buChar char="-"/>
            </a:pPr>
            <a:r>
              <a:rPr b="1" lang="en"/>
              <a:t>Gallantly</a:t>
            </a:r>
            <a:r>
              <a:rPr lang="en"/>
              <a:t> will I show the world that I am a specially selected and well-trained Soldier. </a:t>
            </a:r>
            <a:r>
              <a:rPr lang="en">
                <a:highlight>
                  <a:srgbClr val="00FF00"/>
                </a:highlight>
              </a:rPr>
              <a:t>My courtesy to superior officers</a:t>
            </a:r>
            <a:r>
              <a:rPr lang="en"/>
              <a:t>, neatness of dress, and care of equipment </a:t>
            </a:r>
            <a:r>
              <a:rPr lang="en"/>
              <a:t>shall</a:t>
            </a:r>
            <a:r>
              <a:rPr lang="en"/>
              <a:t> set the example for others to follow.</a:t>
            </a:r>
            <a:endParaRPr/>
          </a:p>
          <a:p>
            <a:pPr indent="-342900" lvl="0" marL="457200" rtl="0" algn="l">
              <a:spcBef>
                <a:spcPts val="0"/>
              </a:spcBef>
              <a:spcAft>
                <a:spcPts val="0"/>
              </a:spcAft>
              <a:buSzPts val="1800"/>
              <a:buChar char="-"/>
            </a:pPr>
            <a:r>
              <a:rPr b="1" lang="en"/>
              <a:t>Energetically</a:t>
            </a:r>
            <a:r>
              <a:rPr lang="en"/>
              <a:t> will I meet the enemies of my country. I shall defeat them on the field of battle for I am better trained and will fight with all my might. Surrender is not a Ranger word. I will never leave a fallen comrade to fall into the hands of the enemy and under no circumstances will I ever </a:t>
            </a:r>
            <a:r>
              <a:rPr lang="en"/>
              <a:t>embarrass</a:t>
            </a:r>
            <a:r>
              <a:rPr lang="en"/>
              <a:t> my country.</a:t>
            </a:r>
            <a:endParaRPr/>
          </a:p>
          <a:p>
            <a:pPr indent="-342900" lvl="0" marL="457200" rtl="0" algn="l">
              <a:spcBef>
                <a:spcPts val="0"/>
              </a:spcBef>
              <a:spcAft>
                <a:spcPts val="0"/>
              </a:spcAft>
              <a:buSzPts val="1800"/>
              <a:buChar char="-"/>
            </a:pPr>
            <a:r>
              <a:rPr b="1" lang="en"/>
              <a:t>Readily</a:t>
            </a:r>
            <a:r>
              <a:rPr lang="en"/>
              <a:t> will I display the intestinal fortitude required fo fight on to the Ranger objective and complete the mission, though I be the lone survivor. </a:t>
            </a:r>
            <a:endParaRPr/>
          </a:p>
        </p:txBody>
      </p:sp>
      <p:pic>
        <p:nvPicPr>
          <p:cNvPr id="386" name="Google Shape;386;p43" title="logo_prime.png"/>
          <p:cNvPicPr preferRelativeResize="0"/>
          <p:nvPr/>
        </p:nvPicPr>
        <p:blipFill>
          <a:blip r:embed="rId3">
            <a:alphaModFix/>
          </a:blip>
          <a:stretch>
            <a:fillRect/>
          </a:stretch>
        </p:blipFill>
        <p:spPr>
          <a:xfrm>
            <a:off x="0" y="4515500"/>
            <a:ext cx="979725" cy="628000"/>
          </a:xfrm>
          <a:prstGeom prst="rect">
            <a:avLst/>
          </a:prstGeom>
          <a:noFill/>
          <a:ln>
            <a:noFill/>
          </a:ln>
        </p:spPr>
      </p:pic>
      <p:pic>
        <p:nvPicPr>
          <p:cNvPr id="387" name="Google Shape;387;p43" title="52_logo.png"/>
          <p:cNvPicPr preferRelativeResize="0"/>
          <p:nvPr/>
        </p:nvPicPr>
        <p:blipFill>
          <a:blip r:embed="rId4">
            <a:alphaModFix/>
          </a:blip>
          <a:stretch>
            <a:fillRect/>
          </a:stretch>
        </p:blipFill>
        <p:spPr>
          <a:xfrm>
            <a:off x="8320950" y="4471700"/>
            <a:ext cx="823050" cy="6718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 for your consideration</a:t>
            </a:r>
            <a:endParaRPr/>
          </a:p>
        </p:txBody>
      </p:sp>
      <p:sp>
        <p:nvSpPr>
          <p:cNvPr id="393" name="Google Shape;393;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Would to it feel to have your nation and Gobal trust in you and principles, to now being served/condemned by those who lack both mental and moral constitutions?</a:t>
            </a:r>
            <a:endParaRPr/>
          </a:p>
          <a:p>
            <a:pPr indent="-342900" lvl="0" marL="457200" rtl="0" algn="l">
              <a:spcBef>
                <a:spcPts val="0"/>
              </a:spcBef>
              <a:spcAft>
                <a:spcPts val="0"/>
              </a:spcAft>
              <a:buSzPts val="1800"/>
              <a:buChar char="-"/>
            </a:pPr>
            <a:r>
              <a:rPr lang="en"/>
              <a:t>Knowing how each failure, set-backs, and ‘try’( instead of commiting to </a:t>
            </a:r>
            <a:r>
              <a:rPr lang="en"/>
              <a:t>succeeding</a:t>
            </a:r>
            <a:r>
              <a:rPr lang="en"/>
              <a:t>) impact a society. How does it feel to have administrator who barely care for their own well-being, being in charge of yours?</a:t>
            </a:r>
            <a:endParaRPr/>
          </a:p>
          <a:p>
            <a:pPr indent="-342900" lvl="0" marL="457200" rtl="0" algn="l">
              <a:spcBef>
                <a:spcPts val="0"/>
              </a:spcBef>
              <a:spcAft>
                <a:spcPts val="0"/>
              </a:spcAft>
              <a:buSzPts val="1800"/>
              <a:buChar char="-"/>
            </a:pPr>
            <a:r>
              <a:rPr lang="en"/>
              <a:t>Time being the most valuable asset, having it wasted by administrators folly that hide behind false empathy whom hold </a:t>
            </a:r>
            <a:r>
              <a:rPr lang="en"/>
              <a:t>sociopathic</a:t>
            </a:r>
            <a:r>
              <a:rPr lang="en"/>
              <a:t> tendencies ( delusional people, who work on those they brand as delusional)</a:t>
            </a:r>
            <a:endParaRPr/>
          </a:p>
          <a:p>
            <a:pPr indent="-342900" lvl="0" marL="457200" rtl="0" algn="l">
              <a:spcBef>
                <a:spcPts val="0"/>
              </a:spcBef>
              <a:spcAft>
                <a:spcPts val="0"/>
              </a:spcAft>
              <a:buSzPts val="1800"/>
              <a:buChar char="-"/>
            </a:pPr>
            <a:r>
              <a:rPr lang="en"/>
              <a:t>Can you point to a program, function, or department within the Veteran’s Affairs who specializes in supporting this minority group and have the ability to comprehend their point of views and concerns?</a:t>
            </a:r>
            <a:endParaRPr/>
          </a:p>
        </p:txBody>
      </p:sp>
      <p:pic>
        <p:nvPicPr>
          <p:cNvPr id="394" name="Google Shape;394;p44" title="logo_prime.png"/>
          <p:cNvPicPr preferRelativeResize="0"/>
          <p:nvPr/>
        </p:nvPicPr>
        <p:blipFill>
          <a:blip r:embed="rId3">
            <a:alphaModFix/>
          </a:blip>
          <a:stretch>
            <a:fillRect/>
          </a:stretch>
        </p:blipFill>
        <p:spPr>
          <a:xfrm>
            <a:off x="0" y="4336075"/>
            <a:ext cx="1259625" cy="807425"/>
          </a:xfrm>
          <a:prstGeom prst="rect">
            <a:avLst/>
          </a:prstGeom>
          <a:noFill/>
          <a:ln>
            <a:noFill/>
          </a:ln>
        </p:spPr>
      </p:pic>
      <p:pic>
        <p:nvPicPr>
          <p:cNvPr id="395" name="Google Shape;395;p44" title="52_logo.png"/>
          <p:cNvPicPr preferRelativeResize="0"/>
          <p:nvPr/>
        </p:nvPicPr>
        <p:blipFill>
          <a:blip r:embed="rId4">
            <a:alphaModFix/>
          </a:blip>
          <a:stretch>
            <a:fillRect/>
          </a:stretch>
        </p:blipFill>
        <p:spPr>
          <a:xfrm>
            <a:off x="8320950" y="4485696"/>
            <a:ext cx="823050" cy="6718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5"/>
          <p:cNvSpPr txBox="1"/>
          <p:nvPr>
            <p:ph type="title"/>
          </p:nvPr>
        </p:nvSpPr>
        <p:spPr>
          <a:xfrm>
            <a:off x="353700" y="22854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Xie Xie</a:t>
            </a:r>
            <a:endParaRPr/>
          </a:p>
        </p:txBody>
      </p:sp>
      <p:sp>
        <p:nvSpPr>
          <p:cNvPr id="401" name="Google Shape;401;p45"/>
          <p:cNvSpPr txBox="1"/>
          <p:nvPr/>
        </p:nvSpPr>
        <p:spPr>
          <a:xfrm>
            <a:off x="5453250" y="3208675"/>
            <a:ext cx="3421200" cy="1596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Zfieryeye</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e</a:t>
            </a:r>
            <a:r>
              <a:rPr lang="en" sz="1800">
                <a:solidFill>
                  <a:schemeClr val="dk2"/>
                </a:solidFill>
              </a:rPr>
              <a:t>mail:</a:t>
            </a:r>
            <a:r>
              <a:rPr lang="en" sz="1800" u="sng">
                <a:solidFill>
                  <a:schemeClr val="hlink"/>
                </a:solidFill>
                <a:hlinkClick r:id="rId3"/>
              </a:rPr>
              <a:t>Zfieryeye@technolust.org</a:t>
            </a:r>
            <a:endParaRPr sz="1800">
              <a:solidFill>
                <a:schemeClr val="dk2"/>
              </a:solidFill>
            </a:endParaRPr>
          </a:p>
          <a:p>
            <a:pPr indent="0" lvl="0" marL="0" rtl="0" algn="l">
              <a:spcBef>
                <a:spcPts val="0"/>
              </a:spcBef>
              <a:spcAft>
                <a:spcPts val="0"/>
              </a:spcAft>
              <a:buNone/>
            </a:pPr>
            <a:r>
              <a:rPr lang="en" sz="1800">
                <a:solidFill>
                  <a:schemeClr val="dk2"/>
                </a:solidFill>
              </a:rPr>
              <a:t>Chat : </a:t>
            </a:r>
            <a:r>
              <a:rPr lang="en" sz="1800" u="sng">
                <a:solidFill>
                  <a:schemeClr val="hlink"/>
                </a:solidFill>
                <a:hlinkClick r:id="rId4"/>
              </a:rPr>
              <a:t>technolust.org</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